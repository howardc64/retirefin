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25296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46888"/>
            <a:ext cx="10789920" cy="39319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ptos"/>
              </a:defRPr>
            </a:pPr>
            <a:r>
              <a:t>Retirement Income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31520"/>
            <a:ext cx="109728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400" b="0">
                <a:solidFill>
                  <a:srgbClr val="D2E1F0"/>
                </a:solidFill>
                <a:latin typeface="Aptos"/>
              </a:defRPr>
            </a:pPr>
            <a:r>
              <a:t>Updated architecture: bracket-aware Roth conversion optimization, coupled tax-and-sale solving, and conversion-focused asset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691640"/>
            <a:ext cx="3383280" cy="26974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Input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IRA conversion mode: fixed or bracket-aware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Ordinary-tax and IRMAA stop selectors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Conversion start policy remains separate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691640"/>
            <a:ext cx="82296" cy="26974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407408" y="1691640"/>
            <a:ext cx="3383280" cy="26974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Compute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Nested conversion search inside annual tax/LTCG solve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One-year-at-a-time IRA/Roth simulation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Projection rows record solved conversions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407408" y="1691640"/>
            <a:ext cx="82296" cy="26974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0456" y="1691640"/>
            <a:ext cx="3383280" cy="26974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2000" b="1">
                <a:solidFill>
                  <a:srgbClr val="232D37"/>
                </a:solidFill>
                <a:latin typeface="Aptos Display"/>
              </a:defRPr>
            </a:pPr>
            <a:r>
              <a:t>Display &amp; export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Roth conversion companion chart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Rows feed charts, Excel, formula reference, and chat</a:t>
            </a:r>
          </a:p>
          <a:p>
            <a:pPr>
              <a:spcBef>
                <a:spcPts val="300"/>
              </a:spcBef>
              <a:defRPr sz="1400">
                <a:solidFill>
                  <a:srgbClr val="232D37"/>
                </a:solidFill>
                <a:latin typeface="Aptos"/>
              </a:defRPr>
            </a:pPr>
            <a:r>
              <a:t>No consumer recalculates conversion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0456" y="1691640"/>
            <a:ext cx="82296" cy="26974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023360" y="3044952"/>
            <a:ext cx="320040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836408" y="3044952"/>
            <a:ext cx="320040" cy="0"/>
          </a:xfrm>
          <a:prstGeom prst="line">
            <a:avLst/>
          </a:prstGeom>
          <a:ln w="2540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49039" y="3291840"/>
            <a:ext cx="86868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266EB2"/>
                </a:solidFill>
                <a:latin typeface="Aptos"/>
              </a:defRPr>
            </a:pPr>
            <a:r>
              <a:t>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3291840"/>
            <a:ext cx="123444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000" b="1">
                <a:solidFill>
                  <a:srgbClr val="429761"/>
                </a:solidFill>
                <a:latin typeface="Aptos"/>
              </a:defRPr>
            </a:pPr>
            <a:r>
              <a:t>projection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5029200"/>
            <a:ext cx="8686800" cy="7772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Core capability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planner can now choose the largest Roth conversion that fits simultaneously under selected ordinary-income and IRMAA limits, while respecting tax, LTCG, and asset-sale interactions.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5029200"/>
            <a:ext cx="82296" cy="7772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Bracket-aware Roth-conversion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What changed in this version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Roth conversions evolve from a fixed annual amount into an optional bracket-aware optimization with explicit limits and convergence diagnostics.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2606040" cy="448056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Conversion modes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Fixed: flat annual today’s-dollar amount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Bracket: solve largest amount under selected limits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Fixed remains default for backward compatibility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82296" cy="448056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01568" y="1234440"/>
            <a:ext cx="2606040" cy="448056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Two limits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Ordinary taxable-income bracket start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IRMAA Part B percentage stop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Both active limits apply with AND logic</a:t>
            </a:r>
          </a:p>
        </p:txBody>
      </p:sp>
      <p:sp>
        <p:nvSpPr>
          <p:cNvPr id="7" name="Rectangle 6"/>
          <p:cNvSpPr/>
          <p:nvPr/>
        </p:nvSpPr>
        <p:spPr>
          <a:xfrm>
            <a:off x="3401568" y="1234440"/>
            <a:ext cx="82296" cy="448056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0216" y="1234440"/>
            <a:ext cx="2606040" cy="448056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Nested solve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Every conversion trial runs full tax ↔ LTCG iteration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Slack is monotonic as conversion rises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False-position / Illinois search with bisection safeguards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1234440"/>
            <a:ext cx="82296" cy="448056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98864" y="1234440"/>
            <a:ext cx="2606040" cy="448056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New presentation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chart retains conversion band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Asset section adds Roth conversion companion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Rows expose convTrials for diagnostic visibility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98864" y="1234440"/>
            <a:ext cx="82296" cy="448056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Bracket-aware Roth-conversion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Roth conversion configuration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IRA card separates three independent choices: how much to convert, which thresholds to respect, and when to start.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33756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1. Conversion mode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Fixed $ / year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Bracket-aware conversion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Fixed uses conv amount directly, capped after RMD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Bracket mode exposes two discrete stop controls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3756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2. Bracket stops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convOrdPct: ordinary-tax rate stop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convIrmaaPct: Part B increase stop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0 = no conversion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null = no limit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Default: 32% ordinary / +40% Part B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188720"/>
            <a:ext cx="333756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3. Start policy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RMD start — default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Now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Custom 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Effective start is never earlier than current age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RMD behavior is not changed by conversion timing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Bracket-aware Roth-conversion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Bracket conversion: two ceilings, one chosen amount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solver seeks the maximum conversion that keeps all active guardrails satisfied.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43000"/>
            <a:ext cx="3337560" cy="141732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Ordinary-income ceiling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ordTI ≤ convOrdTop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convOrdTop is the start of the selected ordinary-rate bracket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Example: select 32% to remain below the 32% bracket start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43000"/>
            <a:ext cx="82296" cy="141732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34840" y="1143000"/>
            <a:ext cx="3337560" cy="141732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IRMAA/MAGI ceiling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MAGI &lt; convMagiCap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Cap is the selected Part B premium-increase threshold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Null means no IRMAA limit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143000"/>
            <a:ext cx="82296" cy="141732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75320" y="1143000"/>
            <a:ext cx="3337560" cy="141732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Combined slack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slack(c) = min(ordinary headroom, MAGI headroom)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Both limits bind: the stricter one wins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Negative slack at zero means no conversion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75320" y="1143000"/>
            <a:ext cx="82296" cy="141732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023360" y="1847088"/>
            <a:ext cx="338328" cy="0"/>
          </a:xfrm>
          <a:prstGeom prst="line">
            <a:avLst/>
          </a:prstGeom>
          <a:ln w="2540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863840" y="1847088"/>
            <a:ext cx="338328" cy="0"/>
          </a:xfrm>
          <a:prstGeom prst="line">
            <a:avLst/>
          </a:prstGeom>
          <a:ln w="2540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143000" y="3794760"/>
            <a:ext cx="9829800" cy="123444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IRMAA exposure rule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IRMAA cap applies whenever anyone will be alive and age 63+ in year k+2. This keeps the look-ahead active through the end of the plan and avoids a last-years conversion spike.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3794760"/>
            <a:ext cx="82296" cy="123444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Bracket-aware Roth-conversion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Nested solve: conversion search inside tax/LTCG 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conversion amount changes taxable Social Security, tax, asset sales, and realized capital gain, so its optimization must invoke the full annual financial solve.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2103120" cy="13258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Precompute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NonSS base independent of LTCG/conversion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IRA pre-state: RMD, AUM, conversion 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82296" cy="13258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44368" y="1188720"/>
            <a:ext cx="2103120" cy="13258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Trial conversion c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Add proposed conversion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Run taxOn(ltcgGross, c)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188720"/>
            <a:ext cx="82296" cy="13258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85816" y="1188720"/>
            <a:ext cx="2103120" cy="13258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Tax ↔ LTCG loop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Tax → expenses → sales → LTCG → tax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Converge for this trial c</a:t>
            </a:r>
          </a:p>
        </p:txBody>
      </p:sp>
      <p:sp>
        <p:nvSpPr>
          <p:cNvPr id="9" name="Rectangle 8"/>
          <p:cNvSpPr/>
          <p:nvPr/>
        </p:nvSpPr>
        <p:spPr>
          <a:xfrm>
            <a:off x="5385816" y="1188720"/>
            <a:ext cx="82296" cy="13258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27264" y="1188720"/>
            <a:ext cx="2103120" cy="13258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Measure slack</a:t>
            </a:r>
          </a:p>
          <a:p>
            <a:pPr>
              <a:spcBef>
                <a:spcPts val="300"/>
              </a:spcBef>
              <a:defRPr sz="1100">
                <a:solidFill>
                  <a:srgbClr val="232D37"/>
                </a:solidFill>
                <a:latin typeface="Aptos"/>
              </a:defRPr>
            </a:pPr>
            <a:r>
              <a:t>Compare resulting ordTI and MAGI to active caps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27264" y="1188720"/>
            <a:ext cx="82296" cy="13258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68712" y="1188720"/>
            <a:ext cx="132588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400" b="1">
                <a:solidFill>
                  <a:srgbClr val="232D37"/>
                </a:solidFill>
                <a:latin typeface="Aptos Display"/>
              </a:defRPr>
            </a:pPr>
            <a:r>
              <a:t>Search</a:t>
            </a:r>
          </a:p>
          <a:p>
            <a:pPr>
              <a:spcBef>
                <a:spcPts val="300"/>
              </a:spcBef>
              <a:defRPr sz="1000">
                <a:solidFill>
                  <a:srgbClr val="232D37"/>
                </a:solidFill>
                <a:latin typeface="Aptos"/>
              </a:defRPr>
            </a:pPr>
            <a:r>
              <a:t>Find maximum non-negative slack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68712" y="1188720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2651760" y="1847088"/>
            <a:ext cx="228600" cy="0"/>
          </a:xfrm>
          <a:prstGeom prst="line">
            <a:avLst/>
          </a:prstGeom>
          <a:ln w="22860">
            <a:solidFill>
              <a:srgbClr val="266E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93208" y="1847088"/>
            <a:ext cx="228600" cy="0"/>
          </a:xfrm>
          <a:prstGeom prst="line">
            <a:avLst/>
          </a:prstGeom>
          <a:ln w="22860">
            <a:solidFill>
              <a:srgbClr val="E589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534656" y="1847088"/>
            <a:ext cx="228600" cy="0"/>
          </a:xfrm>
          <a:prstGeom prst="line">
            <a:avLst/>
          </a:prstGeom>
          <a:ln w="22860">
            <a:solidFill>
              <a:srgbClr val="4297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976104" y="1847088"/>
            <a:ext cx="228600" cy="0"/>
          </a:xfrm>
          <a:prstGeom prst="line">
            <a:avLst/>
          </a:prstGeom>
          <a:ln w="22860">
            <a:solidFill>
              <a:srgbClr val="7852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68680" y="3703320"/>
            <a:ext cx="507492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168F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Search strategy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Use false position / Illinois updates, with bisection safeguards. Stop when bracket width is under one cent or headroom is within 0.005. Slack is non-increasing as conversion rises.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3703320"/>
            <a:ext cx="82296" cy="1325880"/>
          </a:xfrm>
          <a:prstGeom prst="rect">
            <a:avLst/>
          </a:prstGeom>
          <a:solidFill>
            <a:srgbClr val="168F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074920" cy="1325880"/>
          </a:xfrm>
          <a:prstGeom prst="roundRect">
            <a:avLst/>
          </a:prstGeom>
          <a:solidFill>
            <a:srgbClr val="F8FAFC"/>
          </a:solidFill>
          <a:ln w="13970">
            <a:solidFill>
              <a:srgbClr val="0F26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600" b="1">
                <a:solidFill>
                  <a:srgbClr val="232D37"/>
                </a:solidFill>
                <a:latin typeface="Aptos Display"/>
              </a:defRPr>
            </a:pPr>
            <a:r>
              <a:t>Boundary outcomes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If c = 0 already violates a limit: convert 0. If the whole post-RMD balance fits: convert all. Otherwise, return the largest feasible amount.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703320"/>
            <a:ext cx="82296" cy="1325880"/>
          </a:xfrm>
          <a:prstGeom prst="rect">
            <a:avLst/>
          </a:prstGeom>
          <a:solidFill>
            <a:srgbClr val="0F26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Bracket-aware Roth-conversion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Account simulation becomes one-year-at-a-time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Bracket-aware conversions require pre- and post-account balances to be evaluated within each annual projection iteration.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3246120" cy="443484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Why change the simulation?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Conversion is no longer a predetermined withdrawal.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The amount depends on same-year taxable SS, LTCG, tax, and MAGI.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 full up-front IRA/Roth schedule would be stale before the solve completes.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4440"/>
            <a:ext cx="82296" cy="443484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62272" y="1234440"/>
            <a:ext cx="3246120" cy="443484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IRA pre(k)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Start-of-year IRA balance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AUM balance contribution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RMD amount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Post-RMD conversion room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Owner/survivor eligibility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462272" y="1234440"/>
            <a:ext cx="82296" cy="443484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84464" y="1234440"/>
            <a:ext cx="3246120" cy="443484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IRA/Roth post(k, conv)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Apply solved conversion after RMD.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Advance IRA and Roth balances for the year.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Roth receives conversion and grows tax-free.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Next year starts from these settled balances.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84464" y="1234440"/>
            <a:ext cx="82296" cy="443484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Bracket-aware Roth-conversion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Projection contract and conversion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annual row now records the selected conversion result and how much solver work was needed to establish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18872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Existing conversion outputs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rothConvByPerson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rothConvTotal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rothBalByPerson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IRA RMD/withdrawal fields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Tax and AGI fields that reflect the conversion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New diagnostic field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convTrials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Counts full trial tax solves used by bracket conversion search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Supports transparency and regression analysis without exposing solver internals to chart logic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0456" y="1188720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Consumer contract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Income chart shows a dedicated pre-tax IRA withdrawal band.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Asset conversion companion reads row.rothConvByPerson.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Excel, chat, and formulas receive conversion fields through defined interfaces.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045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Bracket-aware Roth-conversion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Asset section adds a Roth conversion companion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main asset view remains the balance story; the companion isolates conversion timing and amounts.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33756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Main asset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Two-thirds width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Brokerage, IRA, Roth, annuity, and stretch balances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Face-value-based locked scale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Devalue controls remain display-only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43000"/>
            <a:ext cx="333756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Conversion chart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One-third width, top-aligned, 1:1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Stacks each person’s Roth conversion in the same color as that person’s pre-tax IRA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Same age labels; sparse ticks; no legend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Hidden when nothing converts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4300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311896" y="1143000"/>
            <a:ext cx="3337560" cy="4526280"/>
          </a:xfrm>
          <a:prstGeom prst="roundRect">
            <a:avLst/>
          </a:prstGeom>
          <a:solidFill>
            <a:srgbClr val="FFF6E8"/>
          </a:solidFill>
          <a:ln w="13970">
            <a:solidFill>
              <a:srgbClr val="E589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Scale and tooltip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Y scale starts at combined pre-tax IRA balance, rounded to $10k.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Shares Asset Rescale action; rescaling asset clears the conversion scale lock.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External tooltip shows owners/ages, each conversion, and total Roth conversion.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11896" y="1143000"/>
            <a:ext cx="82296" cy="4526280"/>
          </a:xfrm>
          <a:prstGeom prst="rect">
            <a:avLst/>
          </a:prstGeom>
          <a:solidFill>
            <a:srgbClr val="E58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Bracket-aware Roth-conversion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46888"/>
            <a:ext cx="11155680" cy="43891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2700" b="1">
                <a:solidFill>
                  <a:srgbClr val="0F2647"/>
                </a:solidFill>
                <a:latin typeface="Aptos"/>
              </a:defRPr>
            </a:pPr>
            <a:r>
              <a:t>Guardrails for constrained financial optimization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86384"/>
            <a:ext cx="10972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1150" b="0">
                <a:solidFill>
                  <a:srgbClr val="5D6C7A"/>
                </a:solidFill>
                <a:latin typeface="Aptos"/>
              </a:defRPr>
            </a:pPr>
            <a:r>
              <a:t>The bracket-aware conversion feature illustrates how to add an optimizer without breaking data ownership or financial consistency.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188720"/>
            <a:ext cx="3383280" cy="4526280"/>
          </a:xfrm>
          <a:prstGeom prst="roundRect">
            <a:avLst/>
          </a:prstGeom>
          <a:solidFill>
            <a:srgbClr val="E9F4FF"/>
          </a:solidFill>
          <a:ln w="13970">
            <a:solidFill>
              <a:srgbClr val="266E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Model the constraints explicitly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Represent each user-selected limit as a named stop and a calculated cap.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Combine active constraints with a documented rule: here, the minimum slack controls.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Keep disabled/unlimited states unambiguous.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82296" cy="4526280"/>
          </a:xfrm>
          <a:prstGeom prst="rect">
            <a:avLst/>
          </a:prstGeom>
          <a:solidFill>
            <a:srgbClr val="266E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07408" y="1188720"/>
            <a:ext cx="3383280" cy="4526280"/>
          </a:xfrm>
          <a:prstGeom prst="roundRect">
            <a:avLst/>
          </a:prstGeom>
          <a:solidFill>
            <a:srgbClr val="EAF9F4"/>
          </a:solidFill>
          <a:ln w="13970">
            <a:solidFill>
              <a:srgbClr val="4297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Solve against the real model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Every conversion trial invokes the same tax/LTCG fixed point as the final projection.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Do not optimize against a simplified calculation when the result changes tax, sales, or gains.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07408" y="1188720"/>
            <a:ext cx="82296" cy="4526280"/>
          </a:xfrm>
          <a:prstGeom prst="rect">
            <a:avLst/>
          </a:prstGeom>
          <a:solidFill>
            <a:srgbClr val="429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74736" y="1188720"/>
            <a:ext cx="3383280" cy="4526280"/>
          </a:xfrm>
          <a:prstGeom prst="roundRect">
            <a:avLst/>
          </a:prstGeom>
          <a:solidFill>
            <a:srgbClr val="F7EFFF"/>
          </a:solidFill>
          <a:ln w="13970">
            <a:solidFill>
              <a:srgbClr val="7852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00584" tIns="91440"/>
          <a:lstStyle/>
          <a:p>
            <a:pPr algn="ctr">
              <a:defRPr sz="1700" b="1">
                <a:solidFill>
                  <a:srgbClr val="232D37"/>
                </a:solidFill>
                <a:latin typeface="Aptos Display"/>
              </a:defRPr>
            </a:pPr>
            <a:r>
              <a:t>Expose results, not duplicate logic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Projection rows publish settled conversion amounts and diagnostics.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Charts, export, chat, and formulas consume those fields.</a:t>
            </a:r>
          </a:p>
          <a:p>
            <a:pPr>
              <a:spcBef>
                <a:spcPts val="300"/>
              </a:spcBef>
              <a:defRPr sz="1200">
                <a:solidFill>
                  <a:srgbClr val="232D37"/>
                </a:solidFill>
                <a:latin typeface="Aptos"/>
              </a:defRPr>
            </a:pPr>
            <a:r>
              <a:t>No display component searches brackets or recomputes MAGI/tax.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1188720"/>
            <a:ext cx="82296" cy="4526280"/>
          </a:xfrm>
          <a:prstGeom prst="rect">
            <a:avLst/>
          </a:prstGeom>
          <a:solidFill>
            <a:srgbClr val="785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6473952"/>
            <a:ext cx="11183112" cy="13716"/>
          </a:xfrm>
          <a:prstGeom prst="rect">
            <a:avLst/>
          </a:prstGeom>
          <a:solidFill>
            <a:srgbClr val="D2D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6510528"/>
            <a:ext cx="10881360" cy="1463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50" b="0">
                <a:solidFill>
                  <a:srgbClr val="5D6C7A"/>
                </a:solidFill>
                <a:latin typeface="Aptos"/>
              </a:defRPr>
            </a:pPr>
            <a:r>
              <a:t>Retirement Income Planner • Architecture overview • Bracket-aware Roth-conversion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