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estate-oriented portfolio basis swaps and a clearer taxable-ordinary-income analysis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 state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New Basis swap assumption card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Enable / Hide follows other assumptions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Configures timing before final passing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Same-holder living ↔ IDGT basis exchange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No balance changes; total basis conserved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Runs at step-up and scheduled pre-passing timing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analysis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Asset tooltip reports swap amount and basis percent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Taxable-income chart separates ordinary taxable income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Rows, export, and charting remain projection consumers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Design principle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swap reassigns cost basis between eligible assets while preserving asset values; the taxable-income companion chart exposes how deductions shape ordinary taxable income without mixing in qualified income.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newest specification introduces a value-for-value basis swap between living portfolios and IDGT holdings, plus refinements to LTC defaults and taxable-income visualization.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060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Basis swap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New household assumption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Living non-IDGT ↔ IDGT basis exchange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Balances unchanged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Total basis conserved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234440"/>
            <a:ext cx="26060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Timing &amp; eligibility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Immediate after first death step-up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Scheduled years before last passing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current holder required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Only enabled, funded, tracked, live assets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234440"/>
            <a:ext cx="26060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Basis management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lowest basis ratio first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Living portfolios highest basis ratio first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Transfer only where IDGT ratio is lower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swapAmt published per portfolio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234440"/>
            <a:ext cx="26060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refinements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 taxable-income chart excludes qualified 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Red deduction reference line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Cost-basis percent shown consistently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Updated single-household LTC fallback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Basis swap: exchange cost basis, not asset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swap is an estate-planning transformation between eligible living non-IDGT portfolios and lower-basis IDGT portfolios held by the same person.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2461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Living portfolio side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Non-IDGT portfolio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Eligible, funded, tracked, and not dead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Highest basis-to-value ratio selected first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Basis can move out while value remains unchanged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62272" y="1188720"/>
            <a:ext cx="324612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IDGT side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portfolio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current holder required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Lowest basis-to-value ratio selected first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Receives proportional basis from living asset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21624" y="1188720"/>
            <a:ext cx="32461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Invariants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 values do not move.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Portfolio balances do not move.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Total basis is conserved.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Only tax-character allocation changes.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21624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Basis-swap algorithm and transfer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algorithm pairs the most favorable living basis ratio with the least favorable IDGT basis ratio and transfers only the basis difference permitted by both sides.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43000"/>
            <a:ext cx="2057400" cy="137160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1. Identify assets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Eligible living and IDGT portfolios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Same holder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Tracked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82296" cy="137160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7792" y="1143000"/>
            <a:ext cx="2057400" cy="137160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2. Rank ratios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Living: highest basis/value first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IDGT: lowest basis/value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907792" y="1143000"/>
            <a:ext cx="82296" cy="137160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6944" y="1143000"/>
            <a:ext cx="2057400" cy="137160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3. Set value swap 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 = min(available living value, available IDGT value)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1143000"/>
            <a:ext cx="82296" cy="137160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6096" y="1143000"/>
            <a:ext cx="2057400" cy="137160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4. Move basis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Living basis decreases by S × (rL − rI)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IDGT basis increases by same amount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6096" y="1143000"/>
            <a:ext cx="82296" cy="137160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85248" y="1143000"/>
            <a:ext cx="1645920" cy="137160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5. Repeat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Only while rI &lt; rL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85248" y="1143000"/>
            <a:ext cx="82296" cy="137160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51760" y="1828800"/>
            <a:ext cx="210312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10912" y="1828800"/>
            <a:ext cx="210312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70064" y="1828800"/>
            <a:ext cx="210312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29216" y="1828800"/>
            <a:ext cx="210312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5840" y="3703320"/>
            <a:ext cx="996696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Result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eligible swap is value-for-value but basis-asymmetric. A living asset relinquishes basis proportional to its cost share, while an IDGT asset receives that same basis amount. `swapAmt` records the asset value swapped for each portfolio.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70332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When swaps occur: step-up events and a scheduled pre-passing 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timing model supports both an automatic post-step-up exchange and a configurable estate-planning swap before the last passing.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A. First-passing step-up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Runs at start of year after a living portfolio receives its non-IDGT step-up.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Applies to married households without a user timing setting.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Operates after step-up, so fresh high basis can be exchanged with eligible IDGT basis.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B. Scheduled swap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Enabled by Basis swap assumption.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swapRow = last passing row − basisSwapYears.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Timing is clamped to a valid modeled row and never below the start.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Applies to single or married households.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Holder rule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Owner while alive.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After death: surviving spouse only when Joint owned with spouse / bene is enabled.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Otherwise asset is dead and ineligible.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cross-holder swap occurs.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Basis swap state, input, and auditability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feature follows the normal schema → input → compute → projection → display path, with every material decision exposed.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Assumption card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state.basisSwap: enabled flag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state.basisSwapYears: years before final passing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Placed above LTC in Assumptions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Has Enable + Hide behavior through ui.assumpHide.swap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Portfolio row detail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swapAmt per portfolio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Existing basis, unrealizedGain, steppedUp fields remain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Basis and value relationship is available in every asset 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Audit surfaces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 tooltip under Show details shows amount swapped with IDGT this year.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Portfolio Excel worksheet adds “Swapped with IDGT this year.”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chart recomputes swap eligibility or basis movement.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Taxable ordinary income chart becomes more precise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income companion now isolates ordinary taxable income and clearly distinguishes deductions from qualified income.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What the chart shows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Height = row.ordTI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Source bands are ordinary-income components after deduction is absorbed from the bottom.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Qualified income is deliberately excluded because it is taxed at separate rates.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43000"/>
            <a:ext cx="333756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Reference lines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Black dashed bracket-start lines identify ordinary tax rates.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Red dashed Deduction line is drawn at ordinary income before deduction.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red line is omitted where no deduction is absorbed.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11896" y="1143000"/>
            <a:ext cx="333756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Tooltip interpretation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Shows full source amounts.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Shows Deduction and ordinary income before deduction.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Shows taxable ordinary income.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Main chart details separately report taxable SS, qualified income, and total taxable income when relevant.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LTC defaults and asset-basis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Small refinements improve consistency and explainability without changing the foundational Input → Compute → Display boundary.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Single-household LTC fallback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Before LTC: state.living.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LTC started: explicit living1, otherwise 7,500.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Both LTC started is not applicable to a single household.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 is named LTC_SINGLE_LIVING.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Married-household LTC fallback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LTC started: explicit living1, otherwise state.living.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Both LTC started: living2.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 living2 = 15,000.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Explicit user values always win.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Asset-chart basis detail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Dashed basis line reports basis as % of brokerage value.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tracked portfolio shows Cost basis (% of value).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Swap details appear under Show details; devalue logic remains presentation-only.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estate-aware transformations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basis-swap feature demonstrates how to model a non-cash tax-character transformation while preserving financial invariants and auditable results.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Preserve invariants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 precisely what never changes: asset values, balances, and total basis.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Move only the modeled property—cost basis—in a clearly conserved 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Restrict eligibility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Require same holder, funding, tracked basis, and valid survivor status.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Avoid cross-holder or dead-asset side effects.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Schedule events explicitly relative to modeled life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Make the effect inspectable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Publish per-portfolio swap amounts and basis percentages.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Expose results in tooltips and export.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chart logic descriptive—never the place that executes basis swaps.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Asset-basis swap and taxable-income chart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