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25296"/>
          </a:xfrm>
          <a:prstGeom prst="rect">
            <a:avLst/>
          </a:prstGeom>
          <a:solidFill>
            <a:srgbClr val="0F26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46888"/>
            <a:ext cx="10789920" cy="39319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Aptos"/>
              </a:defRPr>
            </a:pPr>
            <a:r>
              <a:t>Retirement Income Planner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31520"/>
            <a:ext cx="10972800" cy="1828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1400" b="0">
                <a:solidFill>
                  <a:srgbClr val="D2E1F0"/>
                </a:solidFill>
                <a:latin typeface="Aptos"/>
              </a:defRPr>
            </a:pPr>
            <a:r>
              <a:t>Updated architecture: a plan-shaped Excel workbook with one projection sheet and dynamic account sheets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1691640"/>
            <a:ext cx="3383280" cy="2697480"/>
          </a:xfrm>
          <a:prstGeom prst="roundRect">
            <a:avLst/>
          </a:prstGeom>
          <a:solidFill>
            <a:srgbClr val="E9F4FF"/>
          </a:solidFill>
          <a:ln w="13970">
            <a:solidFill>
              <a:srgbClr val="266E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2000" b="1">
                <a:solidFill>
                  <a:srgbClr val="232D37"/>
                </a:solidFill>
                <a:latin typeface="Aptos Display"/>
              </a:defRPr>
            </a:pPr>
            <a:r>
              <a:t>Input</a:t>
            </a:r>
          </a:p>
          <a:p>
            <a:pPr>
              <a:spcBef>
                <a:spcPts val="300"/>
              </a:spcBef>
              <a:defRPr sz="1400">
                <a:solidFill>
                  <a:srgbClr val="232D37"/>
                </a:solidFill>
                <a:latin typeface="Aptos"/>
              </a:defRPr>
            </a:pPr>
            <a:r>
              <a:t>Controls, plans, income sources</a:t>
            </a:r>
          </a:p>
          <a:p>
            <a:pPr>
              <a:spcBef>
                <a:spcPts val="300"/>
              </a:spcBef>
              <a:defRPr sz="1400">
                <a:solidFill>
                  <a:srgbClr val="232D37"/>
                </a:solidFill>
                <a:latin typeface="Aptos"/>
              </a:defRPr>
            </a:pPr>
            <a:r>
              <a:t>Writes mutable state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691640"/>
            <a:ext cx="82296" cy="2697480"/>
          </a:xfrm>
          <a:prstGeom prst="rect">
            <a:avLst/>
          </a:prstGeom>
          <a:solidFill>
            <a:srgbClr val="266E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407408" y="1691640"/>
            <a:ext cx="3383280" cy="2697480"/>
          </a:xfrm>
          <a:prstGeom prst="roundRect">
            <a:avLst/>
          </a:prstGeom>
          <a:solidFill>
            <a:srgbClr val="EAF9F4"/>
          </a:solidFill>
          <a:ln w="13970">
            <a:solidFill>
              <a:srgbClr val="4297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2000" b="1">
                <a:solidFill>
                  <a:srgbClr val="232D37"/>
                </a:solidFill>
                <a:latin typeface="Aptos Display"/>
              </a:defRPr>
            </a:pPr>
            <a:r>
              <a:t>Compute</a:t>
            </a:r>
          </a:p>
          <a:p>
            <a:pPr>
              <a:spcBef>
                <a:spcPts val="300"/>
              </a:spcBef>
              <a:defRPr sz="1400">
                <a:solidFill>
                  <a:srgbClr val="232D37"/>
                </a:solidFill>
                <a:latin typeface="Aptos"/>
              </a:defRPr>
            </a:pPr>
            <a:r>
              <a:t>Annual projection</a:t>
            </a:r>
          </a:p>
          <a:p>
            <a:pPr>
              <a:spcBef>
                <a:spcPts val="300"/>
              </a:spcBef>
              <a:defRPr sz="1400">
                <a:solidFill>
                  <a:srgbClr val="232D37"/>
                </a:solidFill>
                <a:latin typeface="Aptos"/>
              </a:defRPr>
            </a:pPr>
            <a:r>
              <a:t>Single source of derived facts</a:t>
            </a:r>
          </a:p>
        </p:txBody>
      </p:sp>
      <p:sp>
        <p:nvSpPr>
          <p:cNvPr id="8" name="Rectangle 7"/>
          <p:cNvSpPr/>
          <p:nvPr/>
        </p:nvSpPr>
        <p:spPr>
          <a:xfrm>
            <a:off x="4407408" y="1691640"/>
            <a:ext cx="82296" cy="2697480"/>
          </a:xfrm>
          <a:prstGeom prst="rect">
            <a:avLst/>
          </a:prstGeom>
          <a:solidFill>
            <a:srgbClr val="429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220456" y="1691640"/>
            <a:ext cx="3383280" cy="2697480"/>
          </a:xfrm>
          <a:prstGeom prst="roundRect">
            <a:avLst/>
          </a:prstGeom>
          <a:solidFill>
            <a:srgbClr val="F7EFFF"/>
          </a:solidFill>
          <a:ln w="13970">
            <a:solidFill>
              <a:srgbClr val="7852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2000" b="1">
                <a:solidFill>
                  <a:srgbClr val="232D37"/>
                </a:solidFill>
                <a:latin typeface="Aptos Display"/>
              </a:defRPr>
            </a:pPr>
            <a:r>
              <a:t>Display &amp; export</a:t>
            </a:r>
          </a:p>
          <a:p>
            <a:pPr>
              <a:spcBef>
                <a:spcPts val="300"/>
              </a:spcBef>
              <a:defRPr sz="1400">
                <a:solidFill>
                  <a:srgbClr val="232D37"/>
                </a:solidFill>
                <a:latin typeface="Aptos"/>
              </a:defRPr>
            </a:pPr>
            <a:r>
              <a:t>Charts, reference pages, XLSX</a:t>
            </a:r>
          </a:p>
          <a:p>
            <a:pPr>
              <a:spcBef>
                <a:spcPts val="300"/>
              </a:spcBef>
              <a:defRPr sz="1400">
                <a:solidFill>
                  <a:srgbClr val="232D37"/>
                </a:solidFill>
                <a:latin typeface="Aptos"/>
              </a:defRPr>
            </a:pPr>
            <a:r>
              <a:t>Consumes projection rows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0456" y="1691640"/>
            <a:ext cx="82296" cy="2697480"/>
          </a:xfrm>
          <a:prstGeom prst="rect">
            <a:avLst/>
          </a:prstGeom>
          <a:solidFill>
            <a:srgbClr val="7852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4023360" y="3044952"/>
            <a:ext cx="320040" cy="0"/>
          </a:xfrm>
          <a:prstGeom prst="line">
            <a:avLst/>
          </a:prstGeom>
          <a:ln w="25400">
            <a:solidFill>
              <a:srgbClr val="266E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836408" y="3044952"/>
            <a:ext cx="320040" cy="0"/>
          </a:xfrm>
          <a:prstGeom prst="line">
            <a:avLst/>
          </a:prstGeom>
          <a:ln w="25400">
            <a:solidFill>
              <a:srgbClr val="4297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3749039" y="3291840"/>
            <a:ext cx="868680" cy="1828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000" b="1">
                <a:solidFill>
                  <a:srgbClr val="266EB2"/>
                </a:solidFill>
                <a:latin typeface="Aptos"/>
              </a:defRPr>
            </a:pPr>
            <a:r>
              <a:t>state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60920" y="3291840"/>
            <a:ext cx="1234440" cy="1828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000" b="1">
                <a:solidFill>
                  <a:srgbClr val="429761"/>
                </a:solidFill>
                <a:latin typeface="Aptos"/>
              </a:defRPr>
            </a:pPr>
            <a:r>
              <a:t>projection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737360" y="5029200"/>
            <a:ext cx="8686800" cy="77724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0F26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600" b="1">
                <a:solidFill>
                  <a:srgbClr val="232D37"/>
                </a:solidFill>
                <a:latin typeface="Aptos Display"/>
              </a:defRPr>
            </a:pPr>
            <a:r>
              <a:t>Design boundary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Export is read-only: it draws from lastProjection and never changes input state, calculations, or charts.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737360" y="5029200"/>
            <a:ext cx="82296" cy="777240"/>
          </a:xfrm>
          <a:prstGeom prst="rect">
            <a:avLst/>
          </a:prstGeom>
          <a:solidFill>
            <a:srgbClr val="0F26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02920" y="6473952"/>
            <a:ext cx="11183112" cy="13716"/>
          </a:xfrm>
          <a:prstGeom prst="rect">
            <a:avLst/>
          </a:prstGeom>
          <a:solidFill>
            <a:srgbClr val="D2DC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0352" y="6510528"/>
            <a:ext cx="10881360" cy="146304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850" b="0">
                <a:solidFill>
                  <a:srgbClr val="5D6C7A"/>
                </a:solidFill>
                <a:latin typeface="Aptos"/>
              </a:defRPr>
            </a:pPr>
            <a:r>
              <a:t>Retirement Income Planner • Architecture overview • Account-sheet Excel export update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46888"/>
            <a:ext cx="11155680" cy="43891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2700" b="1">
                <a:solidFill>
                  <a:srgbClr val="0F2647"/>
                </a:solidFill>
                <a:latin typeface="Aptos"/>
              </a:defRPr>
            </a:pPr>
            <a:r>
              <a:t>What changed in this version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86384"/>
            <a:ext cx="10972800" cy="2286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1150" b="0">
                <a:solidFill>
                  <a:srgbClr val="5D6C7A"/>
                </a:solidFill>
                <a:latin typeface="Aptos"/>
              </a:defRPr>
            </a:pPr>
            <a:r>
              <a:t>Excel export now mirrors the plan’s enabled account structure rather than collapsing brokerage detail into one shared sheet.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94360" y="1234440"/>
            <a:ext cx="3383280" cy="4480560"/>
          </a:xfrm>
          <a:prstGeom prst="roundRect">
            <a:avLst/>
          </a:prstGeom>
          <a:solidFill>
            <a:srgbClr val="FFF6E8"/>
          </a:solidFill>
          <a:ln w="13970">
            <a:solidFill>
              <a:srgbClr val="E589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800" b="1">
                <a:solidFill>
                  <a:srgbClr val="232D37"/>
                </a:solidFill>
                <a:latin typeface="Aptos Display"/>
              </a:defRPr>
            </a:pPr>
            <a:r>
              <a:t>Before</a:t>
            </a:r>
          </a:p>
          <a:p>
            <a:pPr>
              <a:spcBef>
                <a:spcPts val="300"/>
              </a:spcBef>
              <a:defRPr sz="1300">
                <a:solidFill>
                  <a:srgbClr val="232D37"/>
                </a:solidFill>
                <a:latin typeface="Aptos"/>
              </a:defRPr>
            </a:pPr>
            <a:r>
              <a:t>Projection by year</a:t>
            </a:r>
          </a:p>
          <a:p>
            <a:pPr>
              <a:spcBef>
                <a:spcPts val="300"/>
              </a:spcBef>
              <a:defRPr sz="1300">
                <a:solidFill>
                  <a:srgbClr val="232D37"/>
                </a:solidFill>
                <a:latin typeface="Aptos"/>
              </a:defRPr>
            </a:pPr>
            <a:r>
              <a:t>One combined Brokerage portfolios sheet</a:t>
            </a:r>
          </a:p>
          <a:p>
            <a:pPr>
              <a:spcBef>
                <a:spcPts val="300"/>
              </a:spcBef>
              <a:defRPr sz="1300">
                <a:solidFill>
                  <a:srgbClr val="232D37"/>
                </a:solidFill>
                <a:latin typeface="Aptos"/>
              </a:defRPr>
            </a:pPr>
            <a:r>
              <a:t>Detail mixed across people, portfolios, and years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34440"/>
            <a:ext cx="82296" cy="4480560"/>
          </a:xfrm>
          <a:prstGeom prst="rect">
            <a:avLst/>
          </a:prstGeom>
          <a:solidFill>
            <a:srgbClr val="E589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407408" y="1234440"/>
            <a:ext cx="3383280" cy="4480560"/>
          </a:xfrm>
          <a:prstGeom prst="roundRect">
            <a:avLst/>
          </a:prstGeom>
          <a:solidFill>
            <a:srgbClr val="EAF9F4"/>
          </a:solidFill>
          <a:ln w="13970">
            <a:solidFill>
              <a:srgbClr val="4297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800" b="1">
                <a:solidFill>
                  <a:srgbClr val="232D37"/>
                </a:solidFill>
                <a:latin typeface="Aptos Display"/>
              </a:defRPr>
            </a:pPr>
            <a:r>
              <a:t>Now</a:t>
            </a:r>
          </a:p>
          <a:p>
            <a:pPr>
              <a:spcBef>
                <a:spcPts val="300"/>
              </a:spcBef>
              <a:defRPr sz="1300">
                <a:solidFill>
                  <a:srgbClr val="232D37"/>
                </a:solidFill>
                <a:latin typeface="Aptos"/>
              </a:defRPr>
            </a:pPr>
            <a:r>
              <a:t>Projection by year remains first</a:t>
            </a:r>
          </a:p>
          <a:p>
            <a:pPr>
              <a:spcBef>
                <a:spcPts val="300"/>
              </a:spcBef>
              <a:defRPr sz="1300">
                <a:solidFill>
                  <a:srgbClr val="232D37"/>
                </a:solidFill>
                <a:latin typeface="Aptos"/>
              </a:defRPr>
            </a:pPr>
            <a:r>
              <a:t>Every enabled account gets its own sheet</a:t>
            </a:r>
          </a:p>
          <a:p>
            <a:pPr>
              <a:spcBef>
                <a:spcPts val="300"/>
              </a:spcBef>
              <a:defRPr sz="1300">
                <a:solidFill>
                  <a:srgbClr val="232D37"/>
                </a:solidFill>
                <a:latin typeface="Aptos"/>
              </a:defRPr>
            </a:pPr>
            <a:r>
              <a:t>Sheet count and names follow the plan’s active accounts</a:t>
            </a:r>
          </a:p>
        </p:txBody>
      </p:sp>
      <p:sp>
        <p:nvSpPr>
          <p:cNvPr id="7" name="Rectangle 6"/>
          <p:cNvSpPr/>
          <p:nvPr/>
        </p:nvSpPr>
        <p:spPr>
          <a:xfrm>
            <a:off x="4407408" y="1234440"/>
            <a:ext cx="82296" cy="4480560"/>
          </a:xfrm>
          <a:prstGeom prst="rect">
            <a:avLst/>
          </a:prstGeom>
          <a:solidFill>
            <a:srgbClr val="429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220456" y="1234440"/>
            <a:ext cx="3383280" cy="4480560"/>
          </a:xfrm>
          <a:prstGeom prst="roundRect">
            <a:avLst/>
          </a:prstGeom>
          <a:solidFill>
            <a:srgbClr val="E9F4FF"/>
          </a:solidFill>
          <a:ln w="13970">
            <a:solidFill>
              <a:srgbClr val="266E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800" b="1">
                <a:solidFill>
                  <a:srgbClr val="232D37"/>
                </a:solidFill>
                <a:latin typeface="Aptos Display"/>
              </a:defRPr>
            </a:pPr>
            <a:r>
              <a:t>Why it matters</a:t>
            </a:r>
          </a:p>
          <a:p>
            <a:pPr>
              <a:spcBef>
                <a:spcPts val="300"/>
              </a:spcBef>
              <a:defRPr sz="1300">
                <a:solidFill>
                  <a:srgbClr val="232D37"/>
                </a:solidFill>
                <a:latin typeface="Aptos"/>
              </a:defRPr>
            </a:pPr>
            <a:r>
              <a:t>A single account has a single year-by-year view</a:t>
            </a:r>
          </a:p>
          <a:p>
            <a:pPr>
              <a:spcBef>
                <a:spcPts val="300"/>
              </a:spcBef>
              <a:defRPr sz="1300">
                <a:solidFill>
                  <a:srgbClr val="232D37"/>
                </a:solidFill>
                <a:latin typeface="Aptos"/>
              </a:defRPr>
            </a:pPr>
            <a:r>
              <a:t>Brokerage, pre-tax IRA, and Roth IRA details are separated</a:t>
            </a:r>
          </a:p>
          <a:p>
            <a:pPr>
              <a:spcBef>
                <a:spcPts val="300"/>
              </a:spcBef>
              <a:defRPr sz="1300">
                <a:solidFill>
                  <a:srgbClr val="232D37"/>
                </a:solidFill>
                <a:latin typeface="Aptos"/>
              </a:defRPr>
            </a:pPr>
            <a:r>
              <a:t>Disabled accounts never create sheets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0456" y="1234440"/>
            <a:ext cx="82296" cy="4480560"/>
          </a:xfrm>
          <a:prstGeom prst="rect">
            <a:avLst/>
          </a:prstGeom>
          <a:solidFill>
            <a:srgbClr val="266E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6473952"/>
            <a:ext cx="11183112" cy="13716"/>
          </a:xfrm>
          <a:prstGeom prst="rect">
            <a:avLst/>
          </a:prstGeom>
          <a:solidFill>
            <a:srgbClr val="D2DC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" y="6510528"/>
            <a:ext cx="10881360" cy="146304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850" b="0">
                <a:solidFill>
                  <a:srgbClr val="5D6C7A"/>
                </a:solidFill>
                <a:latin typeface="Aptos"/>
              </a:defRPr>
            </a:pPr>
            <a:r>
              <a:t>Retirement Income Planner • Architecture overview • Account-sheet Excel export update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46888"/>
            <a:ext cx="11155680" cy="43891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2700" b="1">
                <a:solidFill>
                  <a:srgbClr val="0F2647"/>
                </a:solidFill>
                <a:latin typeface="Aptos"/>
              </a:defRPr>
            </a:pPr>
            <a:r>
              <a:t>Workbook construction 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86384"/>
            <a:ext cx="10972800" cy="2286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1150" b="0">
                <a:solidFill>
                  <a:srgbClr val="5D6C7A"/>
                </a:solidFill>
                <a:latin typeface="Aptos"/>
              </a:defRPr>
            </a:pPr>
            <a:r>
              <a:t>The exporter transforms the cached projection into a deterministic workbook without recomputing the plan.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25880"/>
            <a:ext cx="2057400" cy="1261872"/>
          </a:xfrm>
          <a:prstGeom prst="roundRect">
            <a:avLst/>
          </a:prstGeom>
          <a:solidFill>
            <a:srgbClr val="E9F4FF"/>
          </a:solidFill>
          <a:ln w="13970">
            <a:solidFill>
              <a:srgbClr val="266E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600" b="1">
                <a:solidFill>
                  <a:srgbClr val="232D37"/>
                </a:solidFill>
                <a:latin typeface="Aptos Display"/>
              </a:defRPr>
            </a:pPr>
            <a:r>
              <a:t>lastProjection</a:t>
            </a:r>
          </a:p>
          <a:p>
            <a:pPr>
              <a:spcBef>
                <a:spcPts val="300"/>
              </a:spcBef>
              <a:defRPr sz="1100">
                <a:solidFill>
                  <a:srgbClr val="232D37"/>
                </a:solidFill>
                <a:latin typeface="Aptos"/>
              </a:defRPr>
            </a:pPr>
            <a:r>
              <a:t>Cached result from app.js</a:t>
            </a:r>
          </a:p>
          <a:p>
            <a:pPr>
              <a:spcBef>
                <a:spcPts val="300"/>
              </a:spcBef>
              <a:defRPr sz="1100">
                <a:solidFill>
                  <a:srgbClr val="232D37"/>
                </a:solidFill>
                <a:latin typeface="Aptos"/>
              </a:defRPr>
            </a:pPr>
            <a:r>
              <a:t>No new calculation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325880"/>
            <a:ext cx="82296" cy="1261872"/>
          </a:xfrm>
          <a:prstGeom prst="rect">
            <a:avLst/>
          </a:prstGeom>
          <a:solidFill>
            <a:srgbClr val="266E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907792" y="1325880"/>
            <a:ext cx="2057400" cy="1261872"/>
          </a:xfrm>
          <a:prstGeom prst="roundRect">
            <a:avLst/>
          </a:prstGeom>
          <a:solidFill>
            <a:srgbClr val="EAF9F4"/>
          </a:solidFill>
          <a:ln w="13970">
            <a:solidFill>
              <a:srgbClr val="4297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600" b="1">
                <a:solidFill>
                  <a:srgbClr val="232D37"/>
                </a:solidFill>
                <a:latin typeface="Aptos Display"/>
              </a:defRPr>
            </a:pPr>
            <a:r>
              <a:t>Projection by year</a:t>
            </a:r>
          </a:p>
          <a:p>
            <a:pPr>
              <a:spcBef>
                <a:spcPts val="300"/>
              </a:spcBef>
              <a:defRPr sz="1100">
                <a:solidFill>
                  <a:srgbClr val="232D37"/>
                </a:solidFill>
                <a:latin typeface="Aptos"/>
              </a:defRPr>
            </a:pPr>
            <a:r>
              <a:t>Always first</a:t>
            </a:r>
          </a:p>
          <a:p>
            <a:pPr>
              <a:spcBef>
                <a:spcPts val="300"/>
              </a:spcBef>
              <a:defRPr sz="1100">
                <a:solidFill>
                  <a:srgbClr val="232D37"/>
                </a:solidFill>
                <a:latin typeface="Aptos"/>
              </a:defRPr>
            </a:pPr>
            <a:r>
              <a:t>One row per modeled year</a:t>
            </a:r>
          </a:p>
        </p:txBody>
      </p:sp>
      <p:sp>
        <p:nvSpPr>
          <p:cNvPr id="7" name="Rectangle 6"/>
          <p:cNvSpPr/>
          <p:nvPr/>
        </p:nvSpPr>
        <p:spPr>
          <a:xfrm>
            <a:off x="2907792" y="1325880"/>
            <a:ext cx="82296" cy="1261872"/>
          </a:xfrm>
          <a:prstGeom prst="rect">
            <a:avLst/>
          </a:prstGeom>
          <a:solidFill>
            <a:srgbClr val="429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312664" y="1325880"/>
            <a:ext cx="2057400" cy="1261872"/>
          </a:xfrm>
          <a:prstGeom prst="roundRect">
            <a:avLst/>
          </a:prstGeom>
          <a:solidFill>
            <a:srgbClr val="FFF6E8"/>
          </a:solidFill>
          <a:ln w="13970">
            <a:solidFill>
              <a:srgbClr val="E589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600" b="1">
                <a:solidFill>
                  <a:srgbClr val="232D37"/>
                </a:solidFill>
                <a:latin typeface="Aptos Display"/>
              </a:defRPr>
            </a:pPr>
            <a:r>
              <a:t>Enabled accounts</a:t>
            </a:r>
          </a:p>
          <a:p>
            <a:pPr>
              <a:spcBef>
                <a:spcPts val="300"/>
              </a:spcBef>
              <a:defRPr sz="1100">
                <a:solidFill>
                  <a:srgbClr val="232D37"/>
                </a:solidFill>
                <a:latin typeface="Aptos"/>
              </a:defRPr>
            </a:pPr>
            <a:r>
              <a:t>Enumerate by person</a:t>
            </a:r>
          </a:p>
          <a:p>
            <a:pPr>
              <a:spcBef>
                <a:spcPts val="300"/>
              </a:spcBef>
              <a:defRPr sz="1100">
                <a:solidFill>
                  <a:srgbClr val="232D37"/>
                </a:solidFill>
                <a:latin typeface="Aptos"/>
              </a:defRPr>
            </a:pPr>
            <a:r>
              <a:t>Skip disabled items</a:t>
            </a:r>
          </a:p>
        </p:txBody>
      </p:sp>
      <p:sp>
        <p:nvSpPr>
          <p:cNvPr id="9" name="Rectangle 8"/>
          <p:cNvSpPr/>
          <p:nvPr/>
        </p:nvSpPr>
        <p:spPr>
          <a:xfrm>
            <a:off x="5312664" y="1325880"/>
            <a:ext cx="82296" cy="1261872"/>
          </a:xfrm>
          <a:prstGeom prst="rect">
            <a:avLst/>
          </a:prstGeom>
          <a:solidFill>
            <a:srgbClr val="E589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717536" y="1325880"/>
            <a:ext cx="2057400" cy="1261872"/>
          </a:xfrm>
          <a:prstGeom prst="roundRect">
            <a:avLst/>
          </a:prstGeom>
          <a:solidFill>
            <a:srgbClr val="F7EFFF"/>
          </a:solidFill>
          <a:ln w="13970">
            <a:solidFill>
              <a:srgbClr val="7852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600" b="1">
                <a:solidFill>
                  <a:srgbClr val="232D37"/>
                </a:solidFill>
                <a:latin typeface="Aptos Display"/>
              </a:defRPr>
            </a:pPr>
            <a:r>
              <a:t>xlsxAccountSheets</a:t>
            </a:r>
          </a:p>
          <a:p>
            <a:pPr>
              <a:spcBef>
                <a:spcPts val="300"/>
              </a:spcBef>
              <a:defRPr sz="1100">
                <a:solidFill>
                  <a:srgbClr val="232D37"/>
                </a:solidFill>
                <a:latin typeface="Aptos"/>
              </a:defRPr>
            </a:pPr>
            <a:r>
              <a:t>Build one row-per-year table per account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17536" y="1325880"/>
            <a:ext cx="82296" cy="1261872"/>
          </a:xfrm>
          <a:prstGeom prst="rect">
            <a:avLst/>
          </a:prstGeom>
          <a:solidFill>
            <a:srgbClr val="7852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0122408" y="1325880"/>
            <a:ext cx="1554480" cy="1261872"/>
          </a:xfrm>
          <a:prstGeom prst="roundRect">
            <a:avLst/>
          </a:prstGeom>
          <a:solidFill>
            <a:srgbClr val="F8FAFC"/>
          </a:solidFill>
          <a:ln w="13970">
            <a:solidFill>
              <a:srgbClr val="0F26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500" b="1">
                <a:solidFill>
                  <a:srgbClr val="232D37"/>
                </a:solidFill>
                <a:latin typeface="Aptos Display"/>
              </a:defRPr>
            </a:pPr>
            <a:r>
              <a:t>XLSX</a:t>
            </a:r>
          </a:p>
          <a:p>
            <a:pPr>
              <a:spcBef>
                <a:spcPts val="300"/>
              </a:spcBef>
              <a:defRPr sz="1000">
                <a:solidFill>
                  <a:srgbClr val="232D37"/>
                </a:solidFill>
                <a:latin typeface="Aptos"/>
              </a:defRPr>
            </a:pPr>
            <a:r>
              <a:t>Append and download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122408" y="1325880"/>
            <a:ext cx="82296" cy="1261872"/>
          </a:xfrm>
          <a:prstGeom prst="rect">
            <a:avLst/>
          </a:prstGeom>
          <a:solidFill>
            <a:srgbClr val="0F26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" name="Connector 13"/>
          <p:cNvCxnSpPr/>
          <p:nvPr/>
        </p:nvCxnSpPr>
        <p:spPr>
          <a:xfrm>
            <a:off x="2606040" y="1947672"/>
            <a:ext cx="228600" cy="0"/>
          </a:xfrm>
          <a:prstGeom prst="line">
            <a:avLst/>
          </a:prstGeom>
          <a:ln w="22860">
            <a:solidFill>
              <a:srgbClr val="266E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5010912" y="1947672"/>
            <a:ext cx="228600" cy="0"/>
          </a:xfrm>
          <a:prstGeom prst="line">
            <a:avLst/>
          </a:prstGeom>
          <a:ln w="22860">
            <a:solidFill>
              <a:srgbClr val="4297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7415783" y="1947672"/>
            <a:ext cx="228600" cy="0"/>
          </a:xfrm>
          <a:prstGeom prst="line">
            <a:avLst/>
          </a:prstGeom>
          <a:ln w="22860">
            <a:solidFill>
              <a:srgbClr val="E589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9820656" y="1947672"/>
            <a:ext cx="228600" cy="0"/>
          </a:xfrm>
          <a:prstGeom prst="line">
            <a:avLst/>
          </a:prstGeom>
          <a:ln w="22860">
            <a:solidFill>
              <a:srgbClr val="7852B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1005840" y="3520440"/>
            <a:ext cx="4800600" cy="1325880"/>
          </a:xfrm>
          <a:prstGeom prst="roundRect">
            <a:avLst/>
          </a:prstGeom>
          <a:solidFill>
            <a:srgbClr val="F8FAFC"/>
          </a:solidFill>
          <a:ln w="13970">
            <a:solidFill>
              <a:srgbClr val="168F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700" b="1">
                <a:solidFill>
                  <a:srgbClr val="232D37"/>
                </a:solidFill>
                <a:latin typeface="Aptos Display"/>
              </a:defRPr>
            </a:pPr>
            <a:r>
              <a:t>Read-only guarantee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The exporter reads `lastProjection` only. It does not mutate state, write inputs, re-run `computeProjection()`, or rebuild charts.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005840" y="3520440"/>
            <a:ext cx="82296" cy="1325880"/>
          </a:xfrm>
          <a:prstGeom prst="rect">
            <a:avLst/>
          </a:prstGeom>
          <a:solidFill>
            <a:srgbClr val="168F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382512" y="3520440"/>
            <a:ext cx="4800600" cy="1325880"/>
          </a:xfrm>
          <a:prstGeom prst="roundRect">
            <a:avLst/>
          </a:prstGeom>
          <a:solidFill>
            <a:srgbClr val="F8FAFC"/>
          </a:solidFill>
          <a:ln w="13970">
            <a:solidFill>
              <a:srgbClr val="0F26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700" b="1">
                <a:solidFill>
                  <a:srgbClr val="232D37"/>
                </a:solidFill>
                <a:latin typeface="Aptos Display"/>
              </a:defRPr>
            </a:pPr>
            <a:r>
              <a:t>Safety checks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If there are no projection rows or the SheetJS XLSX library is unavailable, the app alerts rather than generating an empty or broken file.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82512" y="3520440"/>
            <a:ext cx="82296" cy="1325880"/>
          </a:xfrm>
          <a:prstGeom prst="rect">
            <a:avLst/>
          </a:prstGeom>
          <a:solidFill>
            <a:srgbClr val="0F26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02920" y="6473952"/>
            <a:ext cx="11183112" cy="13716"/>
          </a:xfrm>
          <a:prstGeom prst="rect">
            <a:avLst/>
          </a:prstGeom>
          <a:solidFill>
            <a:srgbClr val="D2DC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0352" y="6510528"/>
            <a:ext cx="10881360" cy="146304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850" b="0">
                <a:solidFill>
                  <a:srgbClr val="5D6C7A"/>
                </a:solidFill>
                <a:latin typeface="Aptos"/>
              </a:defRPr>
            </a:pPr>
            <a:r>
              <a:t>Retirement Income Planner • Architecture overview • Account-sheet Excel export update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46888"/>
            <a:ext cx="11155680" cy="43891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2700" b="1">
                <a:solidFill>
                  <a:srgbClr val="0F2647"/>
                </a:solidFill>
                <a:latin typeface="Aptos"/>
              </a:defRPr>
            </a:pPr>
            <a:r>
              <a:t>Workbook anatomy: one overview plus account sheets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86384"/>
            <a:ext cx="10972800" cy="2286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1150" b="0">
                <a:solidFill>
                  <a:srgbClr val="5D6C7A"/>
                </a:solidFill>
                <a:latin typeface="Aptos"/>
              </a:defRPr>
            </a:pPr>
            <a:r>
              <a:t>The exported workbook is a structured projection archive that follows person order and enabled account order.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94360" y="1143000"/>
            <a:ext cx="2788920" cy="4526280"/>
          </a:xfrm>
          <a:prstGeom prst="roundRect">
            <a:avLst/>
          </a:prstGeom>
          <a:solidFill>
            <a:srgbClr val="E9F4FF"/>
          </a:solidFill>
          <a:ln w="13970">
            <a:solidFill>
              <a:srgbClr val="266E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700" b="1">
                <a:solidFill>
                  <a:srgbClr val="232D37"/>
                </a:solidFill>
                <a:latin typeface="Aptos Display"/>
              </a:defRPr>
            </a:pPr>
            <a:r>
              <a:t>Sheet 1: Projection by year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Always first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All plan-wide chartable fields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Income sources, tax, SST, NIIT, IRMAA, AGI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Effective/marginal rates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IRA, Roth, and brokerage balances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143000"/>
            <a:ext cx="82296" cy="4526280"/>
          </a:xfrm>
          <a:prstGeom prst="rect">
            <a:avLst/>
          </a:prstGeom>
          <a:solidFill>
            <a:srgbClr val="266E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794760" y="1143000"/>
            <a:ext cx="2788920" cy="4526280"/>
          </a:xfrm>
          <a:prstGeom prst="roundRect">
            <a:avLst/>
          </a:prstGeom>
          <a:solidFill>
            <a:srgbClr val="EAF9F4"/>
          </a:solidFill>
          <a:ln w="13970">
            <a:solidFill>
              <a:srgbClr val="4297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700" b="1">
                <a:solidFill>
                  <a:srgbClr val="232D37"/>
                </a:solidFill>
                <a:latin typeface="Aptos Display"/>
              </a:defRPr>
            </a:pPr>
            <a:r>
              <a:t>Person 1 sheets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Enabled brokerage portfolios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Then Pre-tax IRA if enabled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Then Roth IRA if enabled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One row per projected year</a:t>
            </a:r>
          </a:p>
        </p:txBody>
      </p:sp>
      <p:sp>
        <p:nvSpPr>
          <p:cNvPr id="7" name="Rectangle 6"/>
          <p:cNvSpPr/>
          <p:nvPr/>
        </p:nvSpPr>
        <p:spPr>
          <a:xfrm>
            <a:off x="3794760" y="1143000"/>
            <a:ext cx="82296" cy="4526280"/>
          </a:xfrm>
          <a:prstGeom prst="rect">
            <a:avLst/>
          </a:prstGeom>
          <a:solidFill>
            <a:srgbClr val="429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995160" y="1143000"/>
            <a:ext cx="2788920" cy="4526280"/>
          </a:xfrm>
          <a:prstGeom prst="roundRect">
            <a:avLst/>
          </a:prstGeom>
          <a:solidFill>
            <a:srgbClr val="F7EFFF"/>
          </a:solidFill>
          <a:ln w="13970">
            <a:solidFill>
              <a:srgbClr val="7852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700" b="1">
                <a:solidFill>
                  <a:srgbClr val="232D37"/>
                </a:solidFill>
                <a:latin typeface="Aptos Display"/>
              </a:defRPr>
            </a:pPr>
            <a:r>
              <a:t>Person 2 sheets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Same ordering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Created only in a married plan / when accounts are enabled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Disabled accounts are omitted</a:t>
            </a:r>
          </a:p>
        </p:txBody>
      </p:sp>
      <p:sp>
        <p:nvSpPr>
          <p:cNvPr id="9" name="Rectangle 8"/>
          <p:cNvSpPr/>
          <p:nvPr/>
        </p:nvSpPr>
        <p:spPr>
          <a:xfrm>
            <a:off x="6995160" y="1143000"/>
            <a:ext cx="82296" cy="4526280"/>
          </a:xfrm>
          <a:prstGeom prst="rect">
            <a:avLst/>
          </a:prstGeom>
          <a:solidFill>
            <a:srgbClr val="7852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0195560" y="1143000"/>
            <a:ext cx="1417320" cy="4526280"/>
          </a:xfrm>
          <a:prstGeom prst="roundRect">
            <a:avLst/>
          </a:prstGeom>
          <a:solidFill>
            <a:srgbClr val="FFF6E8"/>
          </a:solidFill>
          <a:ln w="13970">
            <a:solidFill>
              <a:srgbClr val="E589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600" b="1">
                <a:solidFill>
                  <a:srgbClr val="232D37"/>
                </a:solidFill>
                <a:latin typeface="Aptos Display"/>
              </a:defRPr>
            </a:pPr>
            <a:r>
              <a:t>Result</a:t>
            </a:r>
          </a:p>
          <a:p>
            <a:pPr>
              <a:spcBef>
                <a:spcPts val="300"/>
              </a:spcBef>
              <a:defRPr sz="1100">
                <a:solidFill>
                  <a:srgbClr val="232D37"/>
                </a:solidFill>
                <a:latin typeface="Aptos"/>
              </a:defRPr>
            </a:pPr>
            <a:r>
              <a:t>Workbook size adapts to the plan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195560" y="1143000"/>
            <a:ext cx="82296" cy="4526280"/>
          </a:xfrm>
          <a:prstGeom prst="rect">
            <a:avLst/>
          </a:prstGeom>
          <a:solidFill>
            <a:srgbClr val="E589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3456432" y="3401568"/>
            <a:ext cx="274320" cy="0"/>
          </a:xfrm>
          <a:prstGeom prst="line">
            <a:avLst/>
          </a:prstGeom>
          <a:ln w="25400">
            <a:solidFill>
              <a:srgbClr val="266E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6656832" y="3401568"/>
            <a:ext cx="274320" cy="0"/>
          </a:xfrm>
          <a:prstGeom prst="line">
            <a:avLst/>
          </a:prstGeom>
          <a:ln w="25400">
            <a:solidFill>
              <a:srgbClr val="4297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9857232" y="3401568"/>
            <a:ext cx="274320" cy="0"/>
          </a:xfrm>
          <a:prstGeom prst="line">
            <a:avLst/>
          </a:prstGeom>
          <a:ln w="25400">
            <a:solidFill>
              <a:srgbClr val="7852B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502920" y="6473952"/>
            <a:ext cx="11183112" cy="13716"/>
          </a:xfrm>
          <a:prstGeom prst="rect">
            <a:avLst/>
          </a:prstGeom>
          <a:solidFill>
            <a:srgbClr val="D2DC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0352" y="6510528"/>
            <a:ext cx="10881360" cy="146304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850" b="0">
                <a:solidFill>
                  <a:srgbClr val="5D6C7A"/>
                </a:solidFill>
                <a:latin typeface="Aptos"/>
              </a:defRPr>
            </a:pPr>
            <a:r>
              <a:t>Retirement Income Planner • Architecture overview • Account-sheet Excel export update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46888"/>
            <a:ext cx="11155680" cy="43891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2700" b="1">
                <a:solidFill>
                  <a:srgbClr val="0F2647"/>
                </a:solidFill>
                <a:latin typeface="Aptos"/>
              </a:defRPr>
            </a:pPr>
            <a:r>
              <a:t>Dynamic sheet order and naming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86384"/>
            <a:ext cx="10972800" cy="2286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1150" b="0">
                <a:solidFill>
                  <a:srgbClr val="5D6C7A"/>
                </a:solidFill>
                <a:latin typeface="Aptos"/>
              </a:defRPr>
            </a:pPr>
            <a:r>
              <a:t>Sheet names identify the person and account while satisfying Excel’s worksheet restrictions.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94360" y="1234440"/>
            <a:ext cx="3429000" cy="4480560"/>
          </a:xfrm>
          <a:prstGeom prst="roundRect">
            <a:avLst/>
          </a:prstGeom>
          <a:solidFill>
            <a:srgbClr val="EAF9F4"/>
          </a:solidFill>
          <a:ln w="13970">
            <a:solidFill>
              <a:srgbClr val="4297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700" b="1">
                <a:solidFill>
                  <a:srgbClr val="232D37"/>
                </a:solidFill>
                <a:latin typeface="Aptos Display"/>
              </a:defRPr>
            </a:pPr>
            <a:r>
              <a:t>Ordering rule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1. Projection by year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2. Person 1 enabled brokerage accounts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3. Person 1 Pre-tax IRA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4. Person 1 Roth IRA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5. Repeat for Person 2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This order is deterministic and follows the plan.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34440"/>
            <a:ext cx="82296" cy="4480560"/>
          </a:xfrm>
          <a:prstGeom prst="rect">
            <a:avLst/>
          </a:prstGeom>
          <a:solidFill>
            <a:srgbClr val="429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389120" y="1234440"/>
            <a:ext cx="3429000" cy="4480560"/>
          </a:xfrm>
          <a:prstGeom prst="roundRect">
            <a:avLst/>
          </a:prstGeom>
          <a:solidFill>
            <a:srgbClr val="E9F4FF"/>
          </a:solidFill>
          <a:ln w="13970">
            <a:solidFill>
              <a:srgbClr val="266E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700" b="1">
                <a:solidFill>
                  <a:srgbClr val="232D37"/>
                </a:solidFill>
                <a:latin typeface="Aptos Display"/>
              </a:defRPr>
            </a:pPr>
            <a:r>
              <a:t>Name templates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Brokerage: “&lt;Person&gt; - &lt;Portfolio&gt;”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IDGT brokerage adds “ (IDGT)”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IRA: “&lt;Person&gt; - Pre-tax IRA”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Roth: “&lt;Person&gt; - Roth IRA”</a:t>
            </a:r>
          </a:p>
        </p:txBody>
      </p:sp>
      <p:sp>
        <p:nvSpPr>
          <p:cNvPr id="7" name="Rectangle 6"/>
          <p:cNvSpPr/>
          <p:nvPr/>
        </p:nvSpPr>
        <p:spPr>
          <a:xfrm>
            <a:off x="4389120" y="1234440"/>
            <a:ext cx="82296" cy="4480560"/>
          </a:xfrm>
          <a:prstGeom prst="rect">
            <a:avLst/>
          </a:prstGeom>
          <a:solidFill>
            <a:srgbClr val="266E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183879" y="1234440"/>
            <a:ext cx="3429000" cy="4480560"/>
          </a:xfrm>
          <a:prstGeom prst="roundRect">
            <a:avLst/>
          </a:prstGeom>
          <a:solidFill>
            <a:srgbClr val="FFF6E8"/>
          </a:solidFill>
          <a:ln w="13970">
            <a:solidFill>
              <a:srgbClr val="E589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700" b="1">
                <a:solidFill>
                  <a:srgbClr val="232D37"/>
                </a:solidFill>
                <a:latin typeface="Aptos Display"/>
              </a:defRPr>
            </a:pPr>
            <a:r>
              <a:t>xlsxSheetName safeguards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Sanitizes prohibited characters: [ ] : * ? / \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Limits names to 31 characters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De-duplicates collisions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Produces valid, predictable worksheet names</a:t>
            </a:r>
          </a:p>
        </p:txBody>
      </p:sp>
      <p:sp>
        <p:nvSpPr>
          <p:cNvPr id="9" name="Rectangle 8"/>
          <p:cNvSpPr/>
          <p:nvPr/>
        </p:nvSpPr>
        <p:spPr>
          <a:xfrm>
            <a:off x="8183879" y="1234440"/>
            <a:ext cx="82296" cy="4480560"/>
          </a:xfrm>
          <a:prstGeom prst="rect">
            <a:avLst/>
          </a:prstGeom>
          <a:solidFill>
            <a:srgbClr val="E589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6473952"/>
            <a:ext cx="11183112" cy="13716"/>
          </a:xfrm>
          <a:prstGeom prst="rect">
            <a:avLst/>
          </a:prstGeom>
          <a:solidFill>
            <a:srgbClr val="D2DC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" y="6510528"/>
            <a:ext cx="10881360" cy="146304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850" b="0">
                <a:solidFill>
                  <a:srgbClr val="5D6C7A"/>
                </a:solidFill>
                <a:latin typeface="Aptos"/>
              </a:defRPr>
            </a:pPr>
            <a:r>
              <a:t>Retirement Income Planner • Architecture overview • Account-sheet Excel export update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46888"/>
            <a:ext cx="11155680" cy="43891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2700" b="1">
                <a:solidFill>
                  <a:srgbClr val="0F2647"/>
                </a:solidFill>
                <a:latin typeface="Aptos"/>
              </a:defRPr>
            </a:pPr>
            <a:r>
              <a:t>Account-sheet content contracts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86384"/>
            <a:ext cx="10972800" cy="2286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1150" b="0">
                <a:solidFill>
                  <a:srgbClr val="5D6C7A"/>
                </a:solidFill>
                <a:latin typeface="Aptos"/>
              </a:defRPr>
            </a:pPr>
            <a:r>
              <a:t>Each account-specific sheet contains one row per projected year, with fields suited to that account type.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34440"/>
            <a:ext cx="3657600" cy="4480560"/>
          </a:xfrm>
          <a:prstGeom prst="roundRect">
            <a:avLst/>
          </a:prstGeom>
          <a:solidFill>
            <a:srgbClr val="E9F4FF"/>
          </a:solidFill>
          <a:ln w="13970">
            <a:solidFill>
              <a:srgbClr val="266E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700" b="1">
                <a:solidFill>
                  <a:srgbClr val="232D37"/>
                </a:solidFill>
                <a:latin typeface="Aptos Display"/>
              </a:defRPr>
            </a:pPr>
            <a:r>
              <a:t>Brokerage portfolio sheet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Balance and growth percentage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Tax drag, fee drag, IRMAA drag, withdrawal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Realized LTCG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Cost basis and unrealized gain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Dividend/expense waterfall: used, reinvested, sold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IDGT status is reflected in sheet name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34440"/>
            <a:ext cx="82296" cy="4480560"/>
          </a:xfrm>
          <a:prstGeom prst="rect">
            <a:avLst/>
          </a:prstGeom>
          <a:solidFill>
            <a:srgbClr val="266E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270248" y="1234440"/>
            <a:ext cx="3520440" cy="4480560"/>
          </a:xfrm>
          <a:prstGeom prst="roundRect">
            <a:avLst/>
          </a:prstGeom>
          <a:solidFill>
            <a:srgbClr val="EAF9F4"/>
          </a:solidFill>
          <a:ln w="13970">
            <a:solidFill>
              <a:srgbClr val="4297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700" b="1">
                <a:solidFill>
                  <a:srgbClr val="232D37"/>
                </a:solidFill>
                <a:latin typeface="Aptos Display"/>
              </a:defRPr>
            </a:pPr>
            <a:r>
              <a:t>Pre-tax IRA sheet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Annual RMD / withdrawal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Roth-conversion withdrawal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End-of-year IRA balance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One row for each projection year</a:t>
            </a:r>
          </a:p>
        </p:txBody>
      </p:sp>
      <p:sp>
        <p:nvSpPr>
          <p:cNvPr id="7" name="Rectangle 6"/>
          <p:cNvSpPr/>
          <p:nvPr/>
        </p:nvSpPr>
        <p:spPr>
          <a:xfrm>
            <a:off x="4270248" y="1234440"/>
            <a:ext cx="82296" cy="4480560"/>
          </a:xfrm>
          <a:prstGeom prst="rect">
            <a:avLst/>
          </a:prstGeom>
          <a:solidFill>
            <a:srgbClr val="429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900416" y="1234440"/>
            <a:ext cx="3520440" cy="4480560"/>
          </a:xfrm>
          <a:prstGeom prst="roundRect">
            <a:avLst/>
          </a:prstGeom>
          <a:solidFill>
            <a:srgbClr val="F7EFFF"/>
          </a:solidFill>
          <a:ln w="13970">
            <a:solidFill>
              <a:srgbClr val="7852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700" b="1">
                <a:solidFill>
                  <a:srgbClr val="232D37"/>
                </a:solidFill>
                <a:latin typeface="Aptos Display"/>
              </a:defRPr>
            </a:pPr>
            <a:r>
              <a:t>Roth IRA sheet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Annual conversion received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End-of-year Roth balance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One row for each projection year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Included only if the Roth account is enabled</a:t>
            </a:r>
          </a:p>
        </p:txBody>
      </p:sp>
      <p:sp>
        <p:nvSpPr>
          <p:cNvPr id="9" name="Rectangle 8"/>
          <p:cNvSpPr/>
          <p:nvPr/>
        </p:nvSpPr>
        <p:spPr>
          <a:xfrm>
            <a:off x="7900416" y="1234440"/>
            <a:ext cx="82296" cy="4480560"/>
          </a:xfrm>
          <a:prstGeom prst="rect">
            <a:avLst/>
          </a:prstGeom>
          <a:solidFill>
            <a:srgbClr val="7852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6473952"/>
            <a:ext cx="11183112" cy="13716"/>
          </a:xfrm>
          <a:prstGeom prst="rect">
            <a:avLst/>
          </a:prstGeom>
          <a:solidFill>
            <a:srgbClr val="D2DC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" y="6510528"/>
            <a:ext cx="10881360" cy="146304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850" b="0">
                <a:solidFill>
                  <a:srgbClr val="5D6C7A"/>
                </a:solidFill>
                <a:latin typeface="Aptos"/>
              </a:defRPr>
            </a:pPr>
            <a:r>
              <a:t>Retirement Income Planner • Architecture overview • Account-sheet Excel export update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46888"/>
            <a:ext cx="11155680" cy="43891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2700" b="1">
                <a:solidFill>
                  <a:srgbClr val="0F2647"/>
                </a:solidFill>
                <a:latin typeface="Aptos"/>
              </a:defRPr>
            </a:pPr>
            <a:r>
              <a:t>Export fits the existing architectural boundaries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86384"/>
            <a:ext cx="10972800" cy="2286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1150" b="0">
                <a:solidFill>
                  <a:srgbClr val="5D6C7A"/>
                </a:solidFill>
                <a:latin typeface="Aptos"/>
              </a:defRPr>
            </a:pPr>
            <a:r>
              <a:t>The enhanced workbook extends presentation capability without creating a parallel financial model.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94360" y="1234440"/>
            <a:ext cx="3383280" cy="4434840"/>
          </a:xfrm>
          <a:prstGeom prst="roundRect">
            <a:avLst/>
          </a:prstGeom>
          <a:solidFill>
            <a:srgbClr val="E9F4FF"/>
          </a:solidFill>
          <a:ln w="13970">
            <a:solidFill>
              <a:srgbClr val="266E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700" b="1">
                <a:solidFill>
                  <a:srgbClr val="232D37"/>
                </a:solidFill>
                <a:latin typeface="Aptos Display"/>
              </a:defRPr>
            </a:pPr>
            <a:r>
              <a:t>State and input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State determines which accounts are enabled.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Enable/Hide remains separate: Hide affects only card appearance, not account-sheet inclusion.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No export-specific state is written.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34440"/>
            <a:ext cx="82296" cy="4434840"/>
          </a:xfrm>
          <a:prstGeom prst="rect">
            <a:avLst/>
          </a:prstGeom>
          <a:solidFill>
            <a:srgbClr val="266E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407408" y="1234440"/>
            <a:ext cx="3383280" cy="4434840"/>
          </a:xfrm>
          <a:prstGeom prst="roundRect">
            <a:avLst/>
          </a:prstGeom>
          <a:solidFill>
            <a:srgbClr val="EAF9F4"/>
          </a:solidFill>
          <a:ln w="13970">
            <a:solidFill>
              <a:srgbClr val="4297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700" b="1">
                <a:solidFill>
                  <a:srgbClr val="232D37"/>
                </a:solidFill>
                <a:latin typeface="Aptos Display"/>
              </a:defRPr>
            </a:pPr>
            <a:r>
              <a:t>Compute and rows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computeProjection() continues to produce all account-level data.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The projection-row schema is the source for workbook values.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The exporter does not reimplement tax, basis, IRMAA, or gain logic.</a:t>
            </a:r>
          </a:p>
        </p:txBody>
      </p:sp>
      <p:sp>
        <p:nvSpPr>
          <p:cNvPr id="7" name="Rectangle 6"/>
          <p:cNvSpPr/>
          <p:nvPr/>
        </p:nvSpPr>
        <p:spPr>
          <a:xfrm>
            <a:off x="4407408" y="1234440"/>
            <a:ext cx="82296" cy="4434840"/>
          </a:xfrm>
          <a:prstGeom prst="rect">
            <a:avLst/>
          </a:prstGeom>
          <a:solidFill>
            <a:srgbClr val="429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220456" y="1234440"/>
            <a:ext cx="3383280" cy="4434840"/>
          </a:xfrm>
          <a:prstGeom prst="roundRect">
            <a:avLst/>
          </a:prstGeom>
          <a:solidFill>
            <a:srgbClr val="F7EFFF"/>
          </a:solidFill>
          <a:ln w="13970">
            <a:solidFill>
              <a:srgbClr val="7852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700" b="1">
                <a:solidFill>
                  <a:srgbClr val="232D37"/>
                </a:solidFill>
                <a:latin typeface="Aptos Display"/>
              </a:defRPr>
            </a:pPr>
            <a:r>
              <a:t>Display and export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Charts and Excel are peer consumers of the same projection.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Excel adds account-specific views; charts preserve interactive visual analysis.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0456" y="1234440"/>
            <a:ext cx="82296" cy="4434840"/>
          </a:xfrm>
          <a:prstGeom prst="rect">
            <a:avLst/>
          </a:prstGeom>
          <a:solidFill>
            <a:srgbClr val="7852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6473952"/>
            <a:ext cx="11183112" cy="13716"/>
          </a:xfrm>
          <a:prstGeom prst="rect">
            <a:avLst/>
          </a:prstGeom>
          <a:solidFill>
            <a:srgbClr val="D2DC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" y="6510528"/>
            <a:ext cx="10881360" cy="146304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850" b="0">
                <a:solidFill>
                  <a:srgbClr val="5D6C7A"/>
                </a:solidFill>
                <a:latin typeface="Aptos"/>
              </a:defRPr>
            </a:pPr>
            <a:r>
              <a:t>Retirement Income Planner • Architecture overview • Account-sheet Excel export update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46888"/>
            <a:ext cx="11155680" cy="43891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2700" b="1">
                <a:solidFill>
                  <a:srgbClr val="0F2647"/>
                </a:solidFill>
                <a:latin typeface="Aptos"/>
              </a:defRPr>
            </a:pPr>
            <a:r>
              <a:t>Reference and implementation context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86384"/>
            <a:ext cx="10972800" cy="2286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1150" b="0">
                <a:solidFill>
                  <a:srgbClr val="5D6C7A"/>
                </a:solidFill>
                <a:latin typeface="Aptos"/>
              </a:defRPr>
            </a:pPr>
            <a:r>
              <a:t>The export enhancement sits beside existing pages and charts in the plain-script browser application.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94360" y="1188720"/>
            <a:ext cx="3200400" cy="4526280"/>
          </a:xfrm>
          <a:prstGeom prst="roundRect">
            <a:avLst/>
          </a:prstGeom>
          <a:solidFill>
            <a:srgbClr val="F8FAFC"/>
          </a:solidFill>
          <a:ln w="13970">
            <a:solidFill>
              <a:srgbClr val="0F26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700" b="1">
                <a:solidFill>
                  <a:srgbClr val="232D37"/>
                </a:solidFill>
                <a:latin typeface="Aptos Display"/>
              </a:defRPr>
            </a:pPr>
            <a:r>
              <a:t>Topbar actions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Save to file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Load file ▾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Reset to defaults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Formulas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Notes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Export to Excel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show_details toggle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188720"/>
            <a:ext cx="82296" cy="4526280"/>
          </a:xfrm>
          <a:prstGeom prst="rect">
            <a:avLst/>
          </a:prstGeom>
          <a:solidFill>
            <a:srgbClr val="0F26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480560" y="1188720"/>
            <a:ext cx="3200400" cy="4526280"/>
          </a:xfrm>
          <a:prstGeom prst="roundRect">
            <a:avLst/>
          </a:prstGeom>
          <a:solidFill>
            <a:srgbClr val="F7EFFF"/>
          </a:solidFill>
          <a:ln w="13970">
            <a:solidFill>
              <a:srgbClr val="7852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700" b="1">
                <a:solidFill>
                  <a:srgbClr val="232D37"/>
                </a:solidFill>
                <a:latin typeface="Aptos Display"/>
              </a:defRPr>
            </a:pPr>
            <a:r>
              <a:t>Display utilities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Chart helpers and overlays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SS, income, taxable-SS, tax, and asset charts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Formulas page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Notes page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excelExport.js</a:t>
            </a:r>
          </a:p>
        </p:txBody>
      </p:sp>
      <p:sp>
        <p:nvSpPr>
          <p:cNvPr id="7" name="Rectangle 6"/>
          <p:cNvSpPr/>
          <p:nvPr/>
        </p:nvSpPr>
        <p:spPr>
          <a:xfrm>
            <a:off x="4480560" y="1188720"/>
            <a:ext cx="82296" cy="4526280"/>
          </a:xfrm>
          <a:prstGeom prst="rect">
            <a:avLst/>
          </a:prstGeom>
          <a:solidFill>
            <a:srgbClr val="7852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366760" y="1188720"/>
            <a:ext cx="3200400" cy="4526280"/>
          </a:xfrm>
          <a:prstGeom prst="roundRect">
            <a:avLst/>
          </a:prstGeom>
          <a:solidFill>
            <a:srgbClr val="FFF6E8"/>
          </a:solidFill>
          <a:ln w="13970">
            <a:solidFill>
              <a:srgbClr val="E589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700" b="1">
                <a:solidFill>
                  <a:srgbClr val="232D37"/>
                </a:solidFill>
                <a:latin typeface="Aptos Display"/>
              </a:defRPr>
            </a:pPr>
            <a:r>
              <a:t>Browser dependencies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Chart.js for visualization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Pinned SheetJS CDN script for XLSX export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No build step: plain global scripts in dependency order</a:t>
            </a:r>
          </a:p>
        </p:txBody>
      </p:sp>
      <p:sp>
        <p:nvSpPr>
          <p:cNvPr id="9" name="Rectangle 8"/>
          <p:cNvSpPr/>
          <p:nvPr/>
        </p:nvSpPr>
        <p:spPr>
          <a:xfrm>
            <a:off x="8366760" y="1188720"/>
            <a:ext cx="82296" cy="4526280"/>
          </a:xfrm>
          <a:prstGeom prst="rect">
            <a:avLst/>
          </a:prstGeom>
          <a:solidFill>
            <a:srgbClr val="E589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6473952"/>
            <a:ext cx="11183112" cy="13716"/>
          </a:xfrm>
          <a:prstGeom prst="rect">
            <a:avLst/>
          </a:prstGeom>
          <a:solidFill>
            <a:srgbClr val="D2DC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" y="6510528"/>
            <a:ext cx="10881360" cy="146304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850" b="0">
                <a:solidFill>
                  <a:srgbClr val="5D6C7A"/>
                </a:solidFill>
                <a:latin typeface="Aptos"/>
              </a:defRPr>
            </a:pPr>
            <a:r>
              <a:t>Retirement Income Planner • Architecture overview • Account-sheet Excel export update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46888"/>
            <a:ext cx="11155680" cy="43891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2700" b="1">
                <a:solidFill>
                  <a:srgbClr val="0F2647"/>
                </a:solidFill>
                <a:latin typeface="Aptos"/>
              </a:defRPr>
            </a:pPr>
            <a:r>
              <a:t>Export-design guardrails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86384"/>
            <a:ext cx="10972800" cy="2286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1150" b="0">
                <a:solidFill>
                  <a:srgbClr val="5D6C7A"/>
                </a:solidFill>
                <a:latin typeface="Aptos"/>
              </a:defRPr>
            </a:pPr>
            <a:r>
              <a:t>Future export changes should remain plan-aware, read-only, and projection-driven.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234440"/>
            <a:ext cx="3383280" cy="4434840"/>
          </a:xfrm>
          <a:prstGeom prst="roundRect">
            <a:avLst/>
          </a:prstGeom>
          <a:solidFill>
            <a:srgbClr val="EAF9F4"/>
          </a:solidFill>
          <a:ln w="13970">
            <a:solidFill>
              <a:srgbClr val="4297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700" b="1">
                <a:solidFill>
                  <a:srgbClr val="232D37"/>
                </a:solidFill>
                <a:latin typeface="Aptos Display"/>
              </a:defRPr>
            </a:pPr>
            <a:r>
              <a:t>Plan-aware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Derive sheets from enabled accounts only.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Maintain deterministic person/account order.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Skip inactive accounts rather than exporting misleading empty worksheets.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34440"/>
            <a:ext cx="82296" cy="4434840"/>
          </a:xfrm>
          <a:prstGeom prst="rect">
            <a:avLst/>
          </a:prstGeom>
          <a:solidFill>
            <a:srgbClr val="429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407408" y="1234440"/>
            <a:ext cx="3383280" cy="4434840"/>
          </a:xfrm>
          <a:prstGeom prst="roundRect">
            <a:avLst/>
          </a:prstGeom>
          <a:solidFill>
            <a:srgbClr val="FFF6E8"/>
          </a:solidFill>
          <a:ln w="13970">
            <a:solidFill>
              <a:srgbClr val="E589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700" b="1">
                <a:solidFill>
                  <a:srgbClr val="232D37"/>
                </a:solidFill>
                <a:latin typeface="Aptos Display"/>
              </a:defRPr>
            </a:pPr>
            <a:r>
              <a:t>Workbook-safe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Sanitize, trim, and de-duplicate worksheet names.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Respect the 31-character Excel sheet-name limit.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Protect against unavailable libraries and empty projections.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407408" y="1234440"/>
            <a:ext cx="82296" cy="4434840"/>
          </a:xfrm>
          <a:prstGeom prst="rect">
            <a:avLst/>
          </a:prstGeom>
          <a:solidFill>
            <a:srgbClr val="E589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174736" y="1234440"/>
            <a:ext cx="3383280" cy="4434840"/>
          </a:xfrm>
          <a:prstGeom prst="roundRect">
            <a:avLst/>
          </a:prstGeom>
          <a:solidFill>
            <a:srgbClr val="E9F4FF"/>
          </a:solidFill>
          <a:ln w="13970">
            <a:solidFill>
              <a:srgbClr val="266E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700" b="1">
                <a:solidFill>
                  <a:srgbClr val="232D37"/>
                </a:solidFill>
                <a:latin typeface="Aptos Display"/>
              </a:defRPr>
            </a:pPr>
            <a:r>
              <a:t>Architecture-safe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Read lastProjection only.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Never alter state or recompute financial results during export.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Add new exported fields only after they exist in the projection-row contract.</a:t>
            </a:r>
          </a:p>
        </p:txBody>
      </p:sp>
      <p:sp>
        <p:nvSpPr>
          <p:cNvPr id="9" name="Rectangle 8"/>
          <p:cNvSpPr/>
          <p:nvPr/>
        </p:nvSpPr>
        <p:spPr>
          <a:xfrm>
            <a:off x="8174736" y="1234440"/>
            <a:ext cx="82296" cy="4434840"/>
          </a:xfrm>
          <a:prstGeom prst="rect">
            <a:avLst/>
          </a:prstGeom>
          <a:solidFill>
            <a:srgbClr val="266E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6473952"/>
            <a:ext cx="11183112" cy="13716"/>
          </a:xfrm>
          <a:prstGeom prst="rect">
            <a:avLst/>
          </a:prstGeom>
          <a:solidFill>
            <a:srgbClr val="D2DC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" y="6510528"/>
            <a:ext cx="10881360" cy="146304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850" b="0">
                <a:solidFill>
                  <a:srgbClr val="5D6C7A"/>
                </a:solidFill>
                <a:latin typeface="Aptos"/>
              </a:defRPr>
            </a:pPr>
            <a:r>
              <a:t>Retirement Income Planner • Architecture overview • Account-sheet Excel export update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