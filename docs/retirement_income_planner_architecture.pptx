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25296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46888"/>
            <a:ext cx="10789920" cy="39319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tos"/>
              </a:defRPr>
            </a:pPr>
            <a:r>
              <a:t>Retirement Income Planner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31520"/>
            <a:ext cx="1097280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400" b="0">
                <a:solidFill>
                  <a:srgbClr val="D2E1F0"/>
                </a:solidFill>
                <a:latin typeface="Aptos"/>
              </a:defRPr>
            </a:pPr>
            <a:r>
              <a:t>Updated architecture: independently enabled assumptions, a shared Markdown viewer, and a dedicated Usage guide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691640"/>
            <a:ext cx="3383280" cy="26974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2000" b="1">
                <a:solidFill>
                  <a:srgbClr val="232D37"/>
                </a:solidFill>
                <a:latin typeface="Aptos Display"/>
              </a:defRPr>
            </a:pPr>
            <a:r>
              <a:t>Input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Household &amp; assumption controls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Enable / Hide state saved with 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691640"/>
            <a:ext cx="82296" cy="26974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407408" y="1691640"/>
            <a:ext cx="3383280" cy="269748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2000" b="1">
                <a:solidFill>
                  <a:srgbClr val="232D37"/>
                </a:solidFill>
                <a:latin typeface="Aptos Display"/>
              </a:defRPr>
            </a:pPr>
            <a:r>
              <a:t>Compute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Projection consumes only enabled assumptions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One annual derived-data contract</a:t>
            </a:r>
          </a:p>
        </p:txBody>
      </p:sp>
      <p:sp>
        <p:nvSpPr>
          <p:cNvPr id="8" name="Rectangle 7"/>
          <p:cNvSpPr/>
          <p:nvPr/>
        </p:nvSpPr>
        <p:spPr>
          <a:xfrm>
            <a:off x="4407408" y="1691640"/>
            <a:ext cx="82296" cy="26974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0456" y="1691640"/>
            <a:ext cx="3383280" cy="269748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2000" b="1">
                <a:solidFill>
                  <a:srgbClr val="232D37"/>
                </a:solidFill>
                <a:latin typeface="Aptos Display"/>
              </a:defRPr>
            </a:pPr>
            <a:r>
              <a:t>Display &amp; services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Charts, Usage, Formulas, Notes, Export, Chat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Read-only projection consumers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0456" y="1691640"/>
            <a:ext cx="82296" cy="26974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023360" y="3044952"/>
            <a:ext cx="320040" cy="0"/>
          </a:xfrm>
          <a:prstGeom prst="line">
            <a:avLst/>
          </a:prstGeom>
          <a:ln w="25400">
            <a:solidFill>
              <a:srgbClr val="266E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836408" y="3044952"/>
            <a:ext cx="320040" cy="0"/>
          </a:xfrm>
          <a:prstGeom prst="line">
            <a:avLst/>
          </a:prstGeom>
          <a:ln w="25400">
            <a:solidFill>
              <a:srgbClr val="429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749039" y="3291840"/>
            <a:ext cx="86868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000" b="1">
                <a:solidFill>
                  <a:srgbClr val="266EB2"/>
                </a:solidFill>
                <a:latin typeface="Aptos"/>
              </a:defRPr>
            </a:pPr>
            <a:r>
              <a:t>state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3291840"/>
            <a:ext cx="123444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000" b="1">
                <a:solidFill>
                  <a:srgbClr val="429761"/>
                </a:solidFill>
                <a:latin typeface="Aptos"/>
              </a:defRPr>
            </a:pPr>
            <a:r>
              <a:t>projection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737360" y="5029200"/>
            <a:ext cx="8686800" cy="7772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0F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New focus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Assumptions now follow the same Enable / Hide separation as income cards, while user documentation moves into reusable Markdown pages.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37360" y="5029200"/>
            <a:ext cx="82296" cy="777240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Assumption controls and Markdown Usage update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What changed in this version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architecture adds independently controlled household-assumption cards and a shared system for rendering Usage and Notes documentation.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234440"/>
            <a:ext cx="3383280" cy="448056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800" b="1">
                <a:solidFill>
                  <a:srgbClr val="232D37"/>
                </a:solidFill>
                <a:latin typeface="Aptos Display"/>
              </a:defRPr>
            </a:pPr>
            <a:r>
              <a:t>Assumption cards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SCGL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AUM fee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Long Term Care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Future tax threshold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Each now has Enable + Hide controls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82296" cy="448056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07408" y="1234440"/>
            <a:ext cx="3383280" cy="448056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800" b="1">
                <a:solidFill>
                  <a:srgbClr val="232D37"/>
                </a:solidFill>
                <a:latin typeface="Aptos Display"/>
              </a:defRPr>
            </a:pPr>
            <a:r>
              <a:t>State behavior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Enable flags determine whether Compute applies each item.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Hide flags affect only visual collapse.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Values remain stored when an assumption is disabled.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407408" y="1234440"/>
            <a:ext cx="82296" cy="448056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0456" y="1234440"/>
            <a:ext cx="3383280" cy="448056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800" b="1">
                <a:solidFill>
                  <a:srgbClr val="232D37"/>
                </a:solidFill>
                <a:latin typeface="Aptos Display"/>
              </a:defRPr>
            </a:pPr>
            <a:r>
              <a:t>Documentation pages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Usage button added to the topbar.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mdPage.js becomes the shared Markdown renderer.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Usage.md and Note4User.md update without app-code edits.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0456" y="1234440"/>
            <a:ext cx="82296" cy="448056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Assumption controls and Markdown Usage update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Assumption cards: Enable controls computation; Hide controls layout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app applies the established card pattern to four household-level assumptions.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2377440" cy="443484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Enable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State: scglEnabled, aumFee.enabled, ltc.enabled, futureTax.enabled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Compute includes the item only when enabled.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Turning off retains all configured values.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82296" cy="443484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246120" y="1234440"/>
            <a:ext cx="2377440" cy="443484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Hide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State: ui.assumpHide.scgl|aum|ltc|future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Collapses only the body.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All fields remain rendered and saved.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Enable never changes Hide state.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46120" y="1234440"/>
            <a:ext cx="82296" cy="443484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89320" y="1234440"/>
            <a:ext cx="2377440" cy="443484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Rendering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assumpCard() supplies standard header behavior.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syncAssumpEnable() greys SCGL/AUM inputs when disabled.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Body presence is not tied to enablement.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989320" y="1234440"/>
            <a:ext cx="82296" cy="443484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732520" y="1234440"/>
            <a:ext cx="2514600" cy="4434840"/>
          </a:xfrm>
          <a:prstGeom prst="roundRect">
            <a:avLst/>
          </a:prstGeom>
          <a:solidFill>
            <a:srgbClr val="FFF6E8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Defaults &amp; legacy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LTC and Future Tax start hidden.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Old saves without flags default as enabled.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Old saves without assumpHide open LTC/Future only if enabled.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32520" y="1234440"/>
            <a:ext cx="82296" cy="443484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2926080" y="3429000"/>
            <a:ext cx="228600" cy="0"/>
          </a:xfrm>
          <a:prstGeom prst="line">
            <a:avLst/>
          </a:prstGeom>
          <a:ln w="22860">
            <a:solidFill>
              <a:srgbClr val="429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Assumption controls and Markdown Usage update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669280" y="3429000"/>
            <a:ext cx="228600" cy="0"/>
          </a:xfrm>
          <a:prstGeom prst="line">
            <a:avLst/>
          </a:prstGeom>
          <a:ln w="22860">
            <a:solidFill>
              <a:srgbClr val="266E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Assumption controls and Markdown Usage update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412480" y="3429000"/>
            <a:ext cx="228600" cy="0"/>
          </a:xfrm>
          <a:prstGeom prst="line">
            <a:avLst/>
          </a:prstGeom>
          <a:ln w="22860">
            <a:solidFill>
              <a:srgbClr val="7852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Assumption controls and Markdown Usage update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Assumption-state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new flags enter the same persistence and recomputation flow as the rest of the plan.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2057400" cy="128016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User action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Enable / Hide checkbox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Edit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82296" cy="128016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907792" y="1234440"/>
            <a:ext cx="2057400" cy="1280160"/>
          </a:xfrm>
          <a:prstGeom prst="roundRect">
            <a:avLst/>
          </a:prstGeom>
          <a:solidFill>
            <a:srgbClr val="F8FAFC"/>
          </a:solidFill>
          <a:ln w="13970">
            <a:solidFill>
              <a:srgbClr val="0F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State update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setPath()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autosave</a:t>
            </a:r>
          </a:p>
        </p:txBody>
      </p:sp>
      <p:sp>
        <p:nvSpPr>
          <p:cNvPr id="7" name="Rectangle 6"/>
          <p:cNvSpPr/>
          <p:nvPr/>
        </p:nvSpPr>
        <p:spPr>
          <a:xfrm>
            <a:off x="2907792" y="1234440"/>
            <a:ext cx="82296" cy="1280160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312664" y="1234440"/>
            <a:ext cx="2057400" cy="128016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Compute gate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Enabled flag includes / excludes financial rule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12664" y="1234440"/>
            <a:ext cx="82296" cy="128016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17536" y="1234440"/>
            <a:ext cx="2057400" cy="1280160"/>
          </a:xfrm>
          <a:prstGeom prst="roundRect">
            <a:avLst/>
          </a:prstGeom>
          <a:solidFill>
            <a:srgbClr val="FFF6E8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Projection rows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Annual values reflect active assumptions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17536" y="1234440"/>
            <a:ext cx="82296" cy="128016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122408" y="1234440"/>
            <a:ext cx="1554480" cy="128016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500" b="1">
                <a:solidFill>
                  <a:srgbClr val="232D37"/>
                </a:solidFill>
                <a:latin typeface="Aptos Display"/>
              </a:defRPr>
            </a:pPr>
            <a:r>
              <a:t>Views</a:t>
            </a:r>
          </a:p>
          <a:p>
            <a:pPr>
              <a:spcBef>
                <a:spcPts val="300"/>
              </a:spcBef>
              <a:defRPr sz="1000">
                <a:solidFill>
                  <a:srgbClr val="232D37"/>
                </a:solidFill>
                <a:latin typeface="Aptos"/>
              </a:defRPr>
            </a:pPr>
            <a:r>
              <a:t>Charts / Excel / Chat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122408" y="1234440"/>
            <a:ext cx="82296" cy="128016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2606040" y="1892807"/>
            <a:ext cx="219456" cy="0"/>
          </a:xfrm>
          <a:prstGeom prst="line">
            <a:avLst/>
          </a:prstGeom>
          <a:ln w="22860">
            <a:solidFill>
              <a:srgbClr val="266E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010912" y="1892807"/>
            <a:ext cx="219456" cy="0"/>
          </a:xfrm>
          <a:prstGeom prst="line">
            <a:avLst/>
          </a:prstGeom>
          <a:ln w="22860">
            <a:solidFill>
              <a:srgbClr val="0F26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415783" y="1892807"/>
            <a:ext cx="219457" cy="0"/>
          </a:xfrm>
          <a:prstGeom prst="line">
            <a:avLst/>
          </a:prstGeom>
          <a:ln w="22860">
            <a:solidFill>
              <a:srgbClr val="429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820656" y="1892807"/>
            <a:ext cx="219456" cy="0"/>
          </a:xfrm>
          <a:prstGeom prst="line">
            <a:avLst/>
          </a:prstGeom>
          <a:ln w="22860">
            <a:solidFill>
              <a:srgbClr val="E589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051560" y="3520440"/>
            <a:ext cx="4663440" cy="1325880"/>
          </a:xfrm>
          <a:prstGeom prst="roundRect">
            <a:avLst/>
          </a:prstGeom>
          <a:solidFill>
            <a:srgbClr val="F8FAFC"/>
          </a:solidFill>
          <a:ln w="13970"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Persistence rule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Assumption Enable and Hide flags are part of plan state. Save files and autosave restore them exactly; values do not disappear when disabled.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51560" y="3520440"/>
            <a:ext cx="82296" cy="1325880"/>
          </a:xfrm>
          <a:prstGeom prst="rect">
            <a:avLst/>
          </a:prstGeom>
          <a:solidFill>
            <a:srgbClr val="168F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382512" y="3520440"/>
            <a:ext cx="4663440" cy="1325880"/>
          </a:xfrm>
          <a:prstGeom prst="roundRect">
            <a:avLst/>
          </a:prstGeom>
          <a:solidFill>
            <a:srgbClr val="F8FAFC"/>
          </a:solidFill>
          <a:ln w="13970">
            <a:solidFill>
              <a:srgbClr val="0F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Compute examples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Disabled SCGL contributes a zero pool. Disabled AUM fee contributes zero fee. LTC and future-tax logic were already compute-gated by their enabled flags.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82512" y="3520440"/>
            <a:ext cx="82296" cy="1325880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Assumption controls and Markdown Usage update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Shared Markdown-page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A reusable renderer turns maintained Markdown files into standalone documentation tabs at the moment the user opens them.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34440"/>
            <a:ext cx="2377440" cy="448056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Topbar action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Usage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Notes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Each calls a small page opener rather than duplicating Markdown logic.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82296" cy="448056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337560" y="1234440"/>
            <a:ext cx="2377440" cy="448056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Page wrapper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usagePage.js → openUsagePage()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notesPage.js → openNotesPage()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Both call openMdPage(file, label).</a:t>
            </a:r>
          </a:p>
        </p:txBody>
      </p:sp>
      <p:sp>
        <p:nvSpPr>
          <p:cNvPr id="7" name="Rectangle 6"/>
          <p:cNvSpPr/>
          <p:nvPr/>
        </p:nvSpPr>
        <p:spPr>
          <a:xfrm>
            <a:off x="3337560" y="1234440"/>
            <a:ext cx="82296" cy="448056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126480" y="1234440"/>
            <a:ext cx="2377440" cy="448056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Shared renderer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mdPage.js fetches file on open.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mdToHtml() handles supported Markdown.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mdPageHtml() wraps content in page chrome.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234440"/>
            <a:ext cx="82296" cy="448056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915400" y="1234440"/>
            <a:ext cx="2377440" cy="4480560"/>
          </a:xfrm>
          <a:prstGeom prst="roundRect">
            <a:avLst/>
          </a:prstGeom>
          <a:solidFill>
            <a:srgbClr val="FFF6E8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Content files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misc/Usage.md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misc/Note4User.md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Edit content; next click reflects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15400" y="1234440"/>
            <a:ext cx="82296" cy="448056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2971800" y="3474720"/>
            <a:ext cx="228600" cy="0"/>
          </a:xfrm>
          <a:prstGeom prst="line">
            <a:avLst/>
          </a:prstGeom>
          <a:ln w="22860">
            <a:solidFill>
              <a:srgbClr val="266E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Assumption controls and Markdown Usage update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60720" y="3474720"/>
            <a:ext cx="228600" cy="0"/>
          </a:xfrm>
          <a:prstGeom prst="line">
            <a:avLst/>
          </a:prstGeom>
          <a:ln w="22860">
            <a:solidFill>
              <a:srgbClr val="7852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Assumption controls and Markdown Usage update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549640" y="3474720"/>
            <a:ext cx="228600" cy="0"/>
          </a:xfrm>
          <a:prstGeom prst="line">
            <a:avLst/>
          </a:prstGeom>
          <a:ln w="22860">
            <a:solidFill>
              <a:srgbClr val="429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Assumption controls and Markdown Usage update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Usage and Notes: shared behavior, separate audiences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new Usage guide documents app operation; the existing Notes page retains user-facing plan notes.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3429000" cy="443484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Usage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Topbar position: immediately left of Save to file.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Source: misc/Usage.md.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Purpose: explain how to operate the planner, including display-only controls such as Asset devalue sliders.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No code edit required to revise guidance.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82296" cy="443484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389120" y="1234440"/>
            <a:ext cx="3429000" cy="443484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Notes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Topbar position: right of Formulas.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Source: misc/Note4User.md.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Purpose: user-facing notes associated with the planner.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Uses the same shared Markdown renderer.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234440"/>
            <a:ext cx="82296" cy="443484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38160" y="1234440"/>
            <a:ext cx="3429000" cy="4434840"/>
          </a:xfrm>
          <a:prstGeom prst="roundRect">
            <a:avLst/>
          </a:prstGeom>
          <a:solidFill>
            <a:srgbClr val="FFF6E8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Runtime constraint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Sibling-file fetch works under http(s).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Chrome blocks it under file://.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On failure, the generated tab explains the limitation and workarounds rather than failing silently.</a:t>
            </a:r>
          </a:p>
        </p:txBody>
      </p:sp>
      <p:sp>
        <p:nvSpPr>
          <p:cNvPr id="9" name="Rectangle 8"/>
          <p:cNvSpPr/>
          <p:nvPr/>
        </p:nvSpPr>
        <p:spPr>
          <a:xfrm>
            <a:off x="8138160" y="1234440"/>
            <a:ext cx="82296" cy="443484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Assumption controls and Markdown Usage update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Why this update matters to the larger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These additions increase user control and documentation quality without bypassing the state → compute → projection contracts.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188720"/>
            <a:ext cx="3337560" cy="452628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No hidden financial behavior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Assumption Enable flags are explicit state fields.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Compute reads those fields; charts do not.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Disable means “ignore in model,” not “discard user input.”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188720"/>
            <a:ext cx="82296" cy="45262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07408" y="1188720"/>
            <a:ext cx="3337560" cy="45262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No UI-state drift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Hide status belongs in state rather than browser checkbox state.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Every body is rendered; collapse is presentation-only.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Save, autosave, reset, load, and legacy hydration have defined behavior.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407408" y="1188720"/>
            <a:ext cx="82296" cy="45262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0456" y="1188720"/>
            <a:ext cx="3337560" cy="452628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No documentation duplication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One Markdown renderer supports multiple pages.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Content updates are separated from code deployment.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Formula reference remains distinct: it is a structured, constants-backed mathematical page.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0456" y="1188720"/>
            <a:ext cx="82296" cy="45262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Assumption controls and Markdown Usage update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Updated project structure and dependency order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newest files are focused display utilities; they preserve the plain-script architecture and dependency-driven loading model.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143000"/>
            <a:ext cx="3200400" cy="45262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New source files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display/mdPage.js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display/usagePage.js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misc/Usage.md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Updated assumptions.js / controls.js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Updated index.html topbar and load order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143000"/>
            <a:ext cx="82296" cy="45262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80560" y="1143000"/>
            <a:ext cx="3200400" cy="452628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Script relationship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formulasPage.js remains independent.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mdPage.js loads before notesPage.js and usagePage.js.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notesPage.js and usagePage.js are thin adapters.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app.js remains last.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480560" y="1143000"/>
            <a:ext cx="82296" cy="45262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366760" y="1143000"/>
            <a:ext cx="3200400" cy="4526280"/>
          </a:xfrm>
          <a:prstGeom prst="roundRect">
            <a:avLst/>
          </a:prstGeom>
          <a:solidFill>
            <a:srgbClr val="FFF6E8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Topbar order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Usage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Save to file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Load file ▾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Reset to defaults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Formulas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Notes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Export to Excel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show_details</a:t>
            </a:r>
          </a:p>
        </p:txBody>
      </p:sp>
      <p:sp>
        <p:nvSpPr>
          <p:cNvPr id="9" name="Rectangle 8"/>
          <p:cNvSpPr/>
          <p:nvPr/>
        </p:nvSpPr>
        <p:spPr>
          <a:xfrm>
            <a:off x="8366760" y="1143000"/>
            <a:ext cx="82296" cy="452628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Assumption controls and Markdown Usage update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Guardrails for further changes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revised design reinforces four practices: explicit state semantics, compute gating, shared utilities, and safe content delivery.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188720"/>
            <a:ext cx="2606040" cy="45262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State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Place default values and migrations in state.js.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Keep Enable and Hide independent.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Preserve values when behavior is disabled.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82296" cy="45262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520440" y="1188720"/>
            <a:ext cx="2606040" cy="452628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Compute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Treat enabled flags as financial gates.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Keep all annual finance inside projection.js.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Expose results through rows.</a:t>
            </a:r>
          </a:p>
        </p:txBody>
      </p:sp>
      <p:sp>
        <p:nvSpPr>
          <p:cNvPr id="7" name="Rectangle 6"/>
          <p:cNvSpPr/>
          <p:nvPr/>
        </p:nvSpPr>
        <p:spPr>
          <a:xfrm>
            <a:off x="3520440" y="1188720"/>
            <a:ext cx="82296" cy="45262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0" y="1188720"/>
            <a:ext cx="2606040" cy="452628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Display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Render presentation from state or rows as appropriate.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Do not encode financial rules in charts.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Use shared rendering helpers before creating duplicates.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188720"/>
            <a:ext cx="82296" cy="45262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281160" y="1188720"/>
            <a:ext cx="2286000" cy="4526280"/>
          </a:xfrm>
          <a:prstGeom prst="roundRect">
            <a:avLst/>
          </a:prstGeom>
          <a:solidFill>
            <a:srgbClr val="FFF6E8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Content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Use Markdown files for maintainable user docs.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Fetch on opening; explain file:// limitations.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Keep privacy-sensitive chat data separate from plan files.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81160" y="1188720"/>
            <a:ext cx="82296" cy="452628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Assumption controls and Markdown Usage update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