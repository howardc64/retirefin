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46888"/>
            <a:ext cx="1078992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retirement-account draws as the final household expense-funding sources, integrated with tax and conversion solving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900" b="1">
                <a:solidFill>
                  <a:srgbClr val="232D37"/>
                </a:solidFill>
                <a:latin typeface="Aptos Display"/>
              </a:defRPr>
            </a:pPr>
            <a:r>
              <a:t>Input state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No new user-facing expense-draw toggle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Existing IRA/Roth enablement, balance, survivor, and conversion settings determine eligibility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9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Waterfall extends through pre-tax IRA then Roth IRA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IRA draw is taxable and enters annual fixed point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Roth draw is untaxed final fallback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900" b="1">
                <a:solidFill>
                  <a:srgbClr val="232D37"/>
                </a:solidFill>
                <a:latin typeface="Aptos Display"/>
              </a:defRPr>
            </a:pPr>
            <a:r>
              <a:t>Display &amp; reporting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Income and expense-funding detail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Unfunded-shortfall alert</a:t>
            </a:r>
          </a:p>
          <a:p>
            <a:pPr>
              <a:spcBef>
                <a:spcPts val="300"/>
              </a:spcBef>
              <a:defRPr sz="1300">
                <a:solidFill>
                  <a:srgbClr val="232D37"/>
                </a:solidFill>
                <a:latin typeface="Aptos"/>
              </a:defRPr>
            </a:pPr>
            <a:r>
              <a:t>Rows flow into charts, export, and chat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49039" y="3291840"/>
            <a:ext cx="8686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3291840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5029200"/>
            <a:ext cx="86868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New cash-flow sequence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Household expenses now flow: cash income → portfolio dividends → asset sales → pre-tax IRA → Roth IRA → any remaining unfunded amount.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Retirement-account expense-funding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What changed in this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household waterfall gains two last-resort funding stages, making retirement accounts part of annual expense coverage rather than passive balances after income and taxable assets are exhausted.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606040" cy="448056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Pre-tax IRA draw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Fourth funding stage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Shared pro rata across eligible people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Taxable ordinary income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Can increase taxable SS, AGI, MAGI, and tax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44805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01568" y="1234440"/>
            <a:ext cx="260604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Roth IRA draw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Fifth and final account stage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Shared pro rata across eligible people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Untaxed; excluded from AGI and MAGI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Does not create excess income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1568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0216" y="1234440"/>
            <a:ext cx="260604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Account simulation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IRA/Roth post-year processing now applies conversion and expense draw together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Inherited-spouse paths participate when open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Heir stretch accounts remain excluded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98864" y="1234440"/>
            <a:ext cx="260604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Reporting changes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New annual and per-person draw fields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chart distinguishes taxable IRA and untaxed Roth withdrawals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Expense alert identifies remaining shortfalls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98864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Retirement-account expense-funding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Expanded household funding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planner now uses retirement assets only after household income and eligible taxable portfolios have been exhausted.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1325880"/>
            <a:ext cx="1691640" cy="2240280"/>
          </a:xfrm>
          <a:prstGeom prst="roundRect">
            <a:avLst/>
          </a:prstGeom>
          <a:solidFill>
            <a:srgbClr val="FAFBFD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1. Cash income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Wages, SS, pension, rentals, RMDs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325880"/>
            <a:ext cx="82296" cy="2240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947672" y="2450592"/>
            <a:ext cx="201168" cy="0"/>
          </a:xfrm>
          <a:prstGeom prst="line">
            <a:avLst/>
          </a:prstGeom>
          <a:ln w="1905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03704" y="1325880"/>
            <a:ext cx="1691640" cy="2240280"/>
          </a:xfrm>
          <a:prstGeom prst="roundRect">
            <a:avLst/>
          </a:prstGeom>
          <a:solidFill>
            <a:srgbClr val="FAFBFD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2. Dividends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Eligible Pay-expenses portfolio dividends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03704" y="1325880"/>
            <a:ext cx="82296" cy="2240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922776" y="2450592"/>
            <a:ext cx="201168" cy="0"/>
          </a:xfrm>
          <a:prstGeom prst="line">
            <a:avLst/>
          </a:prstGeom>
          <a:ln w="1905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178808" y="1325880"/>
            <a:ext cx="1691640" cy="2240280"/>
          </a:xfrm>
          <a:prstGeom prst="roundRect">
            <a:avLst/>
          </a:prstGeom>
          <a:solidFill>
            <a:srgbClr val="FAFBFD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3. Asset sales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Eligible portfolio sales; may realize LTCG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78808" y="1325880"/>
            <a:ext cx="82296" cy="2240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897880" y="2450592"/>
            <a:ext cx="201168" cy="0"/>
          </a:xfrm>
          <a:prstGeom prst="line">
            <a:avLst/>
          </a:prstGeom>
          <a:ln w="1905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153912" y="1325880"/>
            <a:ext cx="1691640" cy="2240280"/>
          </a:xfrm>
          <a:prstGeom prst="roundRect">
            <a:avLst/>
          </a:prstGeom>
          <a:solidFill>
            <a:srgbClr val="FAFBFD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4. Pre-tax IRA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Open accounts, pro rata; taxable withdrawal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325880"/>
            <a:ext cx="82296" cy="2240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7872983" y="2450592"/>
            <a:ext cx="201169" cy="0"/>
          </a:xfrm>
          <a:prstGeom prst="line">
            <a:avLst/>
          </a:prstGeom>
          <a:ln w="1905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29016" y="1325880"/>
            <a:ext cx="1691640" cy="2240280"/>
          </a:xfrm>
          <a:prstGeom prst="roundRect">
            <a:avLst/>
          </a:prstGeom>
          <a:solidFill>
            <a:srgbClr val="FAFBFD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5. Roth IRA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Open accounts, pro rata; tax-exempt withdrawal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9016" y="1325880"/>
            <a:ext cx="82296" cy="224028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9848088" y="2450592"/>
            <a:ext cx="201168" cy="0"/>
          </a:xfrm>
          <a:prstGeom prst="line">
            <a:avLst/>
          </a:prstGeom>
          <a:ln w="19050">
            <a:solidFill>
              <a:srgbClr val="168F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104120" y="1325880"/>
            <a:ext cx="1691640" cy="2240280"/>
          </a:xfrm>
          <a:prstGeom prst="roundRect">
            <a:avLst/>
          </a:prstGeom>
          <a:solidFill>
            <a:srgbClr val="FAFBFD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6. Unfunded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Residual shortfall reported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04120" y="1325880"/>
            <a:ext cx="82296" cy="22402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4251960"/>
            <a:ext cx="4892040" cy="123444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Account eligibility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Only open accounts qualify: owner alive, or inherited by a living spouse. Heir stretch accounts do not fund living expenses.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51960"/>
            <a:ext cx="82296" cy="12344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4251960"/>
            <a:ext cx="4892040" cy="123444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Draw allocation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Within each retirement stage, available balances are shared pro rata across eligible people. The pre-tax stage runs before the Roth stage.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4251960"/>
            <a:ext cx="82296" cy="123444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Retirement-account expense-funding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Why pre-tax IRA draws join the tax solve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A pre-tax expense draw changes ordinary income, which can change Social Security taxation, taxes, household expenses, asset sales, and therefore realized capital gains.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70432"/>
            <a:ext cx="2331720" cy="13258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Expense shortfall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After income, dividends, and asset sales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70432"/>
            <a:ext cx="82296" cy="13258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37560" y="1170432"/>
            <a:ext cx="2331720" cy="13258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Pre-tax IRA draw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Added to nonSSOrdinary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May make more SS taxable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170432"/>
            <a:ext cx="82296" cy="13258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26480" y="1170432"/>
            <a:ext cx="2331720" cy="13258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Tax result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AGI, MAGI, ordTI, NIIT, total tax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70432"/>
            <a:ext cx="82296" cy="13258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15400" y="1170432"/>
            <a:ext cx="2331720" cy="13258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Expense total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Tax is itself an expense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May increase remaining shortfall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1170432"/>
            <a:ext cx="82296" cy="13258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926080" y="1828800"/>
            <a:ext cx="274320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715000" y="1828800"/>
            <a:ext cx="274320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03920" y="1828800"/>
            <a:ext cx="274320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5840" y="3520440"/>
            <a:ext cx="4754880" cy="141732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Fixed-point integration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taxOn(ltcgGross, conv, iraExp) adds the IRA draw to ordinary income. runWaterfall(taxExp) supplies the current retirement-account draw. The loop solves their interaction to TAX_TOL.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520440"/>
            <a:ext cx="82296" cy="141732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3520440"/>
            <a:ext cx="4754880" cy="141732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Convergence adjustment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maximum tax/LTCG iterations rises from 30 to 60. Pre-tax IRA withdrawals can have a stronger feedback effect than taxable portfolio sales, yet the map remains below 100% feedback.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520440"/>
            <a:ext cx="82296" cy="141732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Retirement-account expense-funding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IRA and Roth balance processing after the final solve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Annual retirement-account updates now apply conversions and expense funding in a deliberate order, after the tax result has settled.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42900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IRA pre(k) state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Start-of-year balance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RMD and conversion room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Eligibility/open-account status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Available for expense draw after RMD and conversion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389120" y="1188720"/>
            <a:ext cx="342900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Final solve outputs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Settled conversion amount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Settled pre-tax IRA expense draw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Settled Roth expense draw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 and household funding split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188720"/>
            <a:ext cx="342900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post(k, conversion, draw)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IRA: (balance − conversion − draw) × growth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Roth: (balance + conversion − draw) × growth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Surviving-spouse inherited paths grow in post() as well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Retirement-account expense-funding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Roth conversions and expense draws remain distinct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planner treats conversion movement and emergency funding as separate account flows with different purposes and tax effects.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246120" cy="443484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Roth conversion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Moves funds from pre-tax IRA to Roth IRA.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Is a taxable pre-tax IRA withdrawal.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Is excluded from cashIncome because it is not spendable household cash.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May be fixed or bracket-aware.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82296" cy="443484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62272" y="1234440"/>
            <a:ext cx="324612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Pre-tax IRA expense draw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Pays remaining annual household expenses after taxable assets.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Is taxable ordinary income.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Feeds tax, taxable Social Security, AGI, MAGI, and the convergence loop.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2272" y="123444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84464" y="1234440"/>
            <a:ext cx="3246120" cy="44348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Roth IRA expense draw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Last-resort household funding source.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Untaxed and outside AGI/MAGI.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Does not enter cashIncome, so it never creates excess-income reinvestment.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4464" y="1234440"/>
            <a:ext cx="82296" cy="44348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Retirement-account expense-funding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Projection contract and financial visibility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annual row schema now carries a full retirement-account funding split, making plan shortfalls and draw sources visible to all consumers.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24612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Household funding fields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expFromIncome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expFromDiv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expFromSales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expFromIra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expFromRoth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expUnfunded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components reconcile to expTotal.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62272" y="1143000"/>
            <a:ext cx="324612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Account-level fields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iraExpByPerson / iraExpTotal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rothExpByPerson / rothExpTotal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rothConvByPerson / rothConvTotal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IRA and Roth end-of-year balances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2272" y="114300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84464" y="1143000"/>
            <a:ext cx="324612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Meaningful consumers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chart: taxable pre-tax IRA expense withdrawal and untaxed Roth withdrawal bands.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Expense chart: funding split plus shortfall alert.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Excel and chat inherit fields from rows rather than recalculating.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4464" y="114300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Retirement-account expense-funding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Income and expense presentation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display layer explains both the sources of annual income and the sequence used to cover household expenses.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Income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Existing Roth-conversion band remains distinct from RMD.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Adds “Pre-tax IRA withdraw (for expenses)” to taxable income components.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Adds “Roth IRA withdraw (tax-exempt, untaxed)” to primary income view only.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Roth expense withdrawals are excluded from MAGI stack.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Expense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Funding footer expands to income → dividends → asset sales → pre-tax IRA → Roth IRA.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Tooltip retains expense components and detailed funding context.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Household sequence mirrors runWaterfall exactly.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188720"/>
            <a:ext cx="338328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Unfunded alert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buildExpenseAlert identifies first and last affected ages.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Reports number of shortfall years and total remaining gap.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Large bold red visual; absent when expUnfunded is not material.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Retirement-account expense-funding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Guardrails for adding funding 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Adding draw sources changes financial behavior, so the architecture keeps priority, tax character, eligibility, and reporting explicit.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Define the waterfall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Document exact source order.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Specify eligibility and pro-rata allocation.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Separate spendable cash, taxable draws, and account transfers.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Report residual shortfall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Integrate tax correctly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Any taxable source must enter the full annual tax solve.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Apply account balance updates only after settlement.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tax feedback tolerance and iteration diagnostics visible.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74736" y="1188720"/>
            <a:ext cx="33832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Expose settled outputs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Publish household and per-person amounts in projection rows.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Let charts, Excel, and chat consume the rows.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display-only explanations from modifying state or financial logic.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Retirement-account expense-funding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