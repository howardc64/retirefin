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(file:18). This deck describes the specification, not a code audit. app.js orchestrates recompute and rendering. Charts read projection rows; Compute remains DOM-free.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(file:18). This deck describes the specification, not a code audit.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(file:18). This deck describes the specification, not a code audit. Financial input changes recompute; purely visual controls do not create a second financial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(file:18). This deck describes the specification, not a code audit. Blank basis means no unrealized gain today. Older real-estate basisPct saves are converted on load.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(file:18). This deck describes the specification, not a code audit. Assessment and payment are distinct: AUM participation does not automatically make that account the funding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(file:18). This deck describes the specification, not a code audit. Pre-tax draws feed ordinary income and the tax solve; Roth expense draws do not enter AGI.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(file:18). This deck describes the specification, not a code audit. Each trial conversion uses the same financial solve as the final annual projection.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(file:18). This deck describes the specification, not a code audit.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(file:18). This deck describes the specification, not a code audit. Important boundary: the workbook retains solver-produced app values; it is not a replacement for the app’s iterative optimizer.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(file:18). This deck describes the specification, not a code audit. Verification is reported by the architecture document; this deck rebuild did not execute the application or workbook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(file:18). This deck describes the specification, not a code audit.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(file:18). This deck describes the specification, not a code audit.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(file:18). This deck describes the specification, not a code audit.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(file:18). This deck describes the specification, not a code audit. This presentation describes intended behavior from the newest specification, not a verification of implementation completeness.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900" b="1">
                <a:solidFill>
                  <a:srgbClr val="102641"/>
                </a:solidFill>
                <a:latin typeface="Aptos"/>
              </a:defRPr>
            </a:pPr>
            <a:r>
              <a:t>Retirement Income Planner —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9326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Rebuilt October 7, 2026 • System overview plus the latest changes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56432" cy="3977639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46504"/>
            <a:ext cx="3090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32304"/>
            <a:ext cx="309067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Household assumptions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Income-source and asset cards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Shared controls update state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50791" y="3319272"/>
            <a:ext cx="256032" cy="210312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2544" y="1600200"/>
            <a:ext cx="3456432" cy="3977639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35424" y="1746504"/>
            <a:ext cx="3090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Compute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35424" y="2432304"/>
            <a:ext cx="309067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Annual financial projection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Tax and funding convergence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Roth conversion optimization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54696" y="3319272"/>
            <a:ext cx="256032" cy="210312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56448" y="1600200"/>
            <a:ext cx="3456432" cy="3977639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327" y="1746504"/>
            <a:ext cx="3090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Display &amp; reporting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9327" y="2432304"/>
            <a:ext cx="309067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Charts and companion views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Formula-backed Excel workbook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Print, documentation, and chat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57607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app.js orchestrates recompute and rendering. Charts read projection rows; Compute remains DOM-free.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6519672"/>
            <a:ext cx="10698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Latest uploaded architecture | Source: ARCHITECTURE.md |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900" b="1">
                <a:solidFill>
                  <a:srgbClr val="102641"/>
                </a:solidFill>
                <a:latin typeface="Aptos"/>
              </a:defRPr>
            </a:pPr>
            <a:r>
              <a:t>Latest changes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9326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Real estate, a narrower AUM fee base, live-formula Excel export, and display refinements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56432" cy="3977639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46504"/>
            <a:ext cx="3090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Passive real estate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32304"/>
            <a:ext cx="309067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New realEstate[] per person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Dollar cost basis and real growth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yield or expense-funding sales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2544" y="1600200"/>
            <a:ext cx="3456432" cy="3977639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35424" y="1746504"/>
            <a:ext cx="3090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AUM eligibility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35424" y="2432304"/>
            <a:ext cx="309067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Only eligible non-IDGT brokerage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IDGT excluded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Pre-tax IRA and Roth excluded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1600200"/>
            <a:ext cx="3456432" cy="3977639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9327" y="1746504"/>
            <a:ext cx="3090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Workbook &amp; 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9327" y="2432304"/>
            <a:ext cx="309067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Inputs and Tax tables sheets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Formula / app-value columns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Live tooltip theme and decluttered overlays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7607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617184"/>
                </a:solidFill>
                <a:latin typeface="Aptos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76072" y="6519672"/>
            <a:ext cx="10698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Latest uploaded architecture | Source: ARCHITECTURE.md |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900" b="1">
                <a:solidFill>
                  <a:srgbClr val="102641"/>
                </a:solidFill>
                <a:latin typeface="Aptos"/>
              </a:defRPr>
            </a:pPr>
            <a:r>
              <a:t>Two contracts connect the entire 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9326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State is the input contract; annual projection rows are the derived-data contract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56432" cy="3977639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46504"/>
            <a:ext cx="3090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core/state.js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32304"/>
            <a:ext cx="309067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Canonical defaults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Dot-path mutation via setPath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Hydration and legacy migrations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Autosave and JSON save/restore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50791" y="3319272"/>
            <a:ext cx="256032" cy="210312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2544" y="1600200"/>
            <a:ext cx="3456432" cy="3977639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35424" y="1746504"/>
            <a:ext cx="3090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compute/projection.js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35424" y="2432304"/>
            <a:ext cx="309067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Reads current state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Returns rows, stretch, people, idxP0, married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Owns financial outputs in today’s dollars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54696" y="3319272"/>
            <a:ext cx="256032" cy="210312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56448" y="1600200"/>
            <a:ext cx="3456432" cy="3977639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327" y="1746504"/>
            <a:ext cx="3090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Display consumers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9327" y="2432304"/>
            <a:ext cx="309067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Charts format and aggregate rows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Excel mixes app outputs with explicit formulas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Chat snapshots read state and projection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57607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Financial input changes recompute; purely visual controls do not create a second financial model.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6519672"/>
            <a:ext cx="10698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Latest uploaded architecture | Source: ARCHITECTURE.md |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900" b="1">
                <a:solidFill>
                  <a:srgbClr val="102641"/>
                </a:solidFill>
                <a:latin typeface="Aptos"/>
              </a:defRPr>
            </a:pPr>
            <a:r>
              <a:t>Real estate is a passive asset, not rental income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9326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New input/realEstate.js keeps property values distinct from income-producing rental records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56432" cy="3977639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46504"/>
            <a:ext cx="3090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Property card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32304"/>
            <a:ext cx="309067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Name, enabled, hidden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Value today after tax, counting exempt gains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Optional dollar basis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Growth: tracks inflation by default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Joint owned with spouse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50791" y="3319272"/>
            <a:ext cx="256032" cy="210312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2544" y="1600200"/>
            <a:ext cx="3456432" cy="3977639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35424" y="1746504"/>
            <a:ext cx="3090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Model boundaries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35424" y="2432304"/>
            <a:ext cx="309067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Never sold to pay expenses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yield, AUM, foreign credit, or age range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Basis erodes with inflation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Basis steps up at owner’s passing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54696" y="3319272"/>
            <a:ext cx="256032" cy="210312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56448" y="1600200"/>
            <a:ext cx="3456432" cy="3977639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327" y="1746504"/>
            <a:ext cx="3090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Output contract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9327" y="2432304"/>
            <a:ext cx="309067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realEstateByPerson[person][property]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balance, basis, unrealizedGain, steppedUp, growthPct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Available in annual and stretch rows for the asset chart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57607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Blank basis means no unrealized gain today. Older real-estate basisPct saves are converted on load.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6519672"/>
            <a:ext cx="10698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Latest uploaded architecture | Source: ARCHITECTURE.md |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900" b="1">
                <a:solidFill>
                  <a:srgbClr val="102641"/>
                </a:solidFill>
                <a:latin typeface="Aptos"/>
              </a:defRPr>
            </a:pPr>
            <a:r>
              <a:t>AUM fee base — revised eligibility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9326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The latest rule removes IDGT and retirement accounts from the fee assessment base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56432" cy="3977639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46504"/>
            <a:ext cx="3090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Included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32304"/>
            <a:ext cx="309067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Living expense &amp; income brokerage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AUM checked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Enabled, alive, in range, and funded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Use start-of-year balances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2544" y="1600200"/>
            <a:ext cx="3456432" cy="3977639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35424" y="1746504"/>
            <a:ext cx="3090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Excluded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35424" y="2432304"/>
            <a:ext cx="309067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IDGT: AUM forced false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AUM hidden / cleared on type changes and legacy load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Pre-tax IRA and Roth: no AUM fields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Real estate: no AUM option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1600200"/>
            <a:ext cx="3456432" cy="3977639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9327" y="1746504"/>
            <a:ext cx="3090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Household charge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9327" y="2432304"/>
            <a:ext cx="309067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Percentage × eligible balance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Or deflated fixed annual fee when balance &gt; 0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Portfolio feeDrag is informational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Fee enters the household expense pool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7607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Assessment and payment are distinct: AUM participation does not automatically make that account the funding source.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6519672"/>
            <a:ext cx="10698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Latest uploaded architecture | Source: ARCHITECTURE.md |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900" b="1">
                <a:solidFill>
                  <a:srgbClr val="102641"/>
                </a:solidFill>
                <a:latin typeface="Aptos"/>
              </a:defRPr>
            </a:pPr>
            <a:r>
              <a:t>Household expense-funding waterfall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9326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Living + LTC + income tax + IRMAA + AUM fee are paid in priority order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56432" cy="3977639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46504"/>
            <a:ext cx="3090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First: cash &amp; brokerage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32304"/>
            <a:ext cx="309067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Household cash income first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Then eligible portfolio dividends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Then eligible portfolio sales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Portfolio funding requires Pay expenses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50791" y="3319272"/>
            <a:ext cx="256032" cy="210312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2544" y="1600200"/>
            <a:ext cx="3456432" cy="3977639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35424" y="1746504"/>
            <a:ext cx="3090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Next: retirement assets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35424" y="2432304"/>
            <a:ext cx="309067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Pre-tax IRA draws: taxable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Then Roth IRA draws: untaxed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Pro rata across open eligible accounts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Heir stretch accounts excluded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54696" y="3319272"/>
            <a:ext cx="256032" cy="210312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56448" y="1600200"/>
            <a:ext cx="3456432" cy="3977639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327" y="1746504"/>
            <a:ext cx="3090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Residual &amp; surplus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9327" y="2432304"/>
            <a:ext cx="309067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Residual → expUnfunded alert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Surplus cash → optional reinvestment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Real estate never funds the gap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Conversions are transfers, not spendable cash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57607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Pre-tax draws feed ordinary income and the tax solve; Roth expense draws do not enter AGI.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6519672"/>
            <a:ext cx="10698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Latest uploaded architecture | Source: ARCHITECTURE.md |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900" b="1">
                <a:solidFill>
                  <a:srgbClr val="102641"/>
                </a:solidFill>
                <a:latin typeface="Aptos"/>
              </a:defRPr>
            </a:pPr>
            <a:r>
              <a:t>Nested solving keeps taxes and withdrawals consistent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9326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Conversion choice contains a full annual funding-and-tax solve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56432" cy="3977639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46504"/>
            <a:ext cx="3090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Conversion policy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32304"/>
            <a:ext cx="309067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Fixed amount or bracket mode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Age start or latched event trigger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Trigger baseline: solveTax(0)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Bracket trials honor ordTI and MAGI caps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50791" y="3319272"/>
            <a:ext cx="256032" cy="210312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2544" y="1600200"/>
            <a:ext cx="3456432" cy="3977639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35424" y="1746504"/>
            <a:ext cx="3090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Annual fixed 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35424" y="2432304"/>
            <a:ext cx="309067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Candidate tax → waterfall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Sales produce LTCG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IRA draws produce ordinary income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Recalculate taxable SS, deductions, and tax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Tolerance 0.005; max 60 rounds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54696" y="3319272"/>
            <a:ext cx="256032" cy="210312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56448" y="1600200"/>
            <a:ext cx="3456432" cy="3977639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327" y="1746504"/>
            <a:ext cx="3090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Commit after settlement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9327" y="2432304"/>
            <a:ext cx="309067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Consume SCGL once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Apply conversion and IRA/Roth draws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Roll balances and cost basis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Report taxIters, taxConverged, convTrials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57607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Each trial conversion uses the same financial solve as the final annual projection.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6519672"/>
            <a:ext cx="10698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Latest uploaded architecture | Source: ARCHITECTURE.md |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900" b="1">
                <a:solidFill>
                  <a:srgbClr val="102641"/>
                </a:solidFill>
                <a:latin typeface="Aptos"/>
              </a:defRPr>
            </a:pPr>
            <a:r>
              <a:t>Basis tracking and estate transformations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9326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Cost basis, passing events, and IDGT swaps stay in Compute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56432" cy="3977639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46504"/>
            <a:ext cx="3090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Brokerage basis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32304"/>
            <a:ext cx="309067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basisPct initializes dollar basis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Sales remove proportional cost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Reinvested dividends / surplus add basis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Inflation deflates nominal cost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2544" y="1600200"/>
            <a:ext cx="3456432" cy="3977639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35424" y="1746504"/>
            <a:ext cx="3090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Ownership &amp; step-up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35424" y="2432304"/>
            <a:ext cx="309067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Continuing non-IDGT basis resets at death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IDGT keeps carryover basis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Same-holder checks govern swaps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Property basis also steps up per spec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1600200"/>
            <a:ext cx="3456432" cy="3977639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9327" y="1746504"/>
            <a:ext cx="3090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Optional basis swap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9327" y="2432304"/>
            <a:ext cx="309067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Higher-basis living assets ↔ lower-basis IDGT assets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Balance unchanged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Total basis conserved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swapAmt is surfaced in tooltips and portfolio export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7607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617184"/>
                </a:solidFill>
                <a:latin typeface="Aptos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76072" y="6519672"/>
            <a:ext cx="10698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Latest uploaded architecture | Source: ARCHITECTURE.md |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900" b="1">
                <a:solidFill>
                  <a:srgbClr val="102641"/>
                </a:solidFill>
                <a:latin typeface="Aptos"/>
              </a:defRPr>
            </a:pPr>
            <a:r>
              <a:t>Excel export is now a live-formula workbook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9326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xlsxBuildWorkbook(proj) builds a hybrid model and sets fullCalcOnLoad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56432" cy="3977639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46504"/>
            <a:ext cx="3090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Inputs → Tax tables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32304"/>
            <a:ext cx="309067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Inputs: assumptions and all account/property settings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Named cells: BaseYear, Inflation, SCGLStart, passing and future-NIIT settings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Tax tables: shared reference data and named ranges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50791" y="3319272"/>
            <a:ext cx="256032" cy="210312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2544" y="1600200"/>
            <a:ext cx="3456432" cy="3977639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35424" y="1746504"/>
            <a:ext cx="3090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Projection by year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35424" y="2432304"/>
            <a:ext cx="309067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Row 3 labels formula versus app value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App values retain iterative-solver outputs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Excel formulas derive totals, taxable SS, AGI/MAGI, deductions, taxes, NIIT, and IRMAA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54696" y="3319272"/>
            <a:ext cx="256032" cy="210312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56448" y="1600200"/>
            <a:ext cx="3456432" cy="3977639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327" y="1746504"/>
            <a:ext cx="3090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Account sheets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9327" y="2432304"/>
            <a:ext cx="309067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Enabled portfolio, annuity, IRA, Roth sheets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Formula balance roll-forwards where they reproduce app behavior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Annuities remain values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IRA/Roth sheets include applicable stretch years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57607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Important boundary: the workbook retains solver-produced app values; it is not a replacement for the app’s iterative optimizer.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6519672"/>
            <a:ext cx="10698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Latest uploaded architecture | Source: ARCHITECTURE.md |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900" b="1">
                <a:solidFill>
                  <a:srgbClr val="102641"/>
                </a:solidFill>
                <a:latin typeface="Aptos"/>
              </a:defRPr>
            </a:pPr>
            <a:r>
              <a:t>Workbook formula boundary and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9326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Distinguish auditable spreadsheet formulas from results that still come from the application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56432" cy="3977639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46504"/>
            <a:ext cx="3090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App-value columns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32304"/>
            <a:ext cx="309067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Income sources and dividends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Gross LTCG and SCGL used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Foreign tax credit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Living/LTC/AUM and funding split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SST, marginal rate, eligibility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2544" y="1600200"/>
            <a:ext cx="3456432" cy="3977639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35424" y="1746504"/>
            <a:ext cx="3090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Formula columns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35424" y="2432304"/>
            <a:ext cx="309067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Taxable SS, provisional income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AGI, MAGI and deductions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Ordinary tax via SUMPRODUCT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Qualified tax, NII and NIIT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Total tax and effective rate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Two-year MAGI IRMAA look-back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1600200"/>
            <a:ext cx="3456432" cy="3977639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9327" y="1746504"/>
            <a:ext cx="3090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Verification &amp; safeguards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9327" y="2432304"/>
            <a:ext cx="309067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Spec reports LibreOffice recalculation: three plans, about 7,000 formula cells, no differences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Unrounded ages preserve Medicare tests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rows or missing XLSX → alert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Read-only export of lastProjection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7607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Verification is reported by the architecture document; this deck rebuild did not execute the application or workbook tests.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6519672"/>
            <a:ext cx="10698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Latest uploaded architecture | Source: ARCHITECTURE.md |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900" b="1">
                <a:solidFill>
                  <a:srgbClr val="102641"/>
                </a:solidFill>
                <a:latin typeface="Aptos"/>
              </a:defRPr>
            </a:pPr>
            <a:r>
              <a:t>Charts present income, taxes, expenses, and legacy assets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9326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Primary views provide context; companion views isolate specific questions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56432" cy="3977639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46504"/>
            <a:ext cx="3090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Income and tax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32304"/>
            <a:ext cx="309067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Income + MAGI + taxable ordinary income trio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Ordinary taxable stack excludes qualified income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Deduction reference line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Total tax + ordinary tax + qualified tax trio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2544" y="1600200"/>
            <a:ext cx="3456432" cy="3977639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35424" y="1746504"/>
            <a:ext cx="3090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Expenses and assets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35424" y="2432304"/>
            <a:ext cx="309067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Expense component stack and funding split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Unfunded alert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Asset balances and Roth conversion companion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Legacy stretch data kept separate from living-year rows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1600200"/>
            <a:ext cx="3456432" cy="3977639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9327" y="1746504"/>
            <a:ext cx="3090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Shared presentation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9327" y="2432304"/>
            <a:ext cx="309067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Registry and upsertLineChart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Locked scales / Rescale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External companion tooltips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Basis percentages and display-only devalue sliders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7607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617184"/>
                </a:solidFill>
                <a:latin typeface="Aptos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76072" y="6519672"/>
            <a:ext cx="10698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Latest uploaded architecture | Source: ARCHITECTURE.md |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900" b="1">
                <a:solidFill>
                  <a:srgbClr val="102641"/>
                </a:solidFill>
                <a:latin typeface="Aptos"/>
              </a:defRPr>
            </a:pPr>
            <a:r>
              <a:t>New display refinements do not affect financial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9326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Tooltip appearance and reference-line density are presentation settings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56432" cy="3977639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46504"/>
            <a:ext cx="3090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Tooltip theme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32304"/>
            <a:ext cx="309067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tipBg slider: 0 light → 100 dark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Saved separately in localStorage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tipTheme supplies translucent background, text, border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setTipBg updates visible popup immediately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2544" y="1600200"/>
            <a:ext cx="3456432" cy="3977639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35424" y="1746504"/>
            <a:ext cx="3090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Two tooltip systems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35424" y="2432304"/>
            <a:ext cx="309067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Scriptable TIP_STYLE for built-in Chart.js tooltips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Same theme for external HTML tooltip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Common padded label/value layout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financial recompute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1600200"/>
            <a:ext cx="3456432" cy="3977639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9327" y="1746504"/>
            <a:ext cx="3090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Overlay decluttering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9327" y="2432304"/>
            <a:ext cx="309067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Black dashed reference lines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crowdedBracketKeep retains top three when crowded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Applies to ordinary-tax and MAGI IRMAA references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Taxable-income rate labels at right ends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7607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617184"/>
                </a:solidFill>
                <a:latin typeface="Aptos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76072" y="6519672"/>
            <a:ext cx="10698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Latest uploaded architecture | Source: ARCHITECTURE.md |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900" b="1">
                <a:solidFill>
                  <a:srgbClr val="102641"/>
                </a:solidFill>
                <a:latin typeface="Aptos"/>
              </a:defRPr>
            </a:pPr>
            <a:r>
              <a:t>Persistence, printing, documentation, and chat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9326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Different lifecycles preserve clear boundaries between plan state and temporary presentation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56432" cy="3977639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46504"/>
            <a:ext cx="3090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Saved plan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32304"/>
            <a:ext cx="309067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Values, enablement, hide flags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Shared drag-reordered card layout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Display-only asset haircut settings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Hydrate legacy fields before modeling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2544" y="1600200"/>
            <a:ext cx="3456432" cy="3977639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35424" y="1746504"/>
            <a:ext cx="3090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Local reporting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35424" y="2432304"/>
            <a:ext cx="309067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Print reveals cards temporarily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Off-screen chart copies avoid live-canvas races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Usage / Notes via shared Markdown renderer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Formulas use shared constants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1600200"/>
            <a:ext cx="3456432" cy="3977639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9327" y="1746504"/>
            <a:ext cx="3090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External chat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9327" y="2432304"/>
            <a:ext cx="309067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Fresh read-only plan snapshot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Browser-to-provider streaming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Preview before sending; names opt-in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Keys outside plan state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chart or plan mutations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7607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617184"/>
                </a:solidFill>
                <a:latin typeface="Aptos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76072" y="6519672"/>
            <a:ext cx="10698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Latest uploaded architecture | Source: ARCHITECTURE.md |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900" b="1">
                <a:solidFill>
                  <a:srgbClr val="102641"/>
                </a:solidFill>
                <a:latin typeface="Aptos"/>
              </a:defRPr>
            </a:pPr>
            <a:r>
              <a:t>Engineering structure and extension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9326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Plain scripts, dependency-ordered loading, separated CSS, and a Node regression harness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56432" cy="3977639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46504"/>
            <a:ext cx="3090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Runtime layout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32304"/>
            <a:ext cx="309067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index.html markup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css/styles.css presentation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core → compute → input → display → app orchestration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New realEstate.js input component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2544" y="1600200"/>
            <a:ext cx="3456432" cy="3977639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35424" y="1746504"/>
            <a:ext cx="3090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Quality and contracts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35424" y="2432304"/>
            <a:ext cx="309067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tests/check.js, snapshot.js, compare.js, baseline.json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Harness not loaded by browser app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State defaults / migration centralized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Projection output schema governs views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1600200"/>
            <a:ext cx="3456432" cy="3977639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9327" y="1746504"/>
            <a:ext cx="3090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Feature checklist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9327" y="2432304"/>
            <a:ext cx="309067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1. State + defaults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2. Input + shared controls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3. Compute + row fields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4. Chart/export integration</a:t>
            </a:r>
          </a:p>
          <a:p>
            <a:pPr>
              <a:spcAft>
                <a:spcPts val="9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5. Architecture documentation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7607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This presentation describes intended behavior from the newest specification, not a verification of implementation completeness.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6519672"/>
            <a:ext cx="10698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Latest uploaded architecture | Source: ARCHITECTURE.md |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