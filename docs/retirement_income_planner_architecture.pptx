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25296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46888"/>
            <a:ext cx="10789920" cy="3931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tos"/>
              </a:defRPr>
            </a:pPr>
            <a:r>
              <a:t>Retirement Income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09728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400" b="0">
                <a:solidFill>
                  <a:srgbClr val="D2E1F0"/>
                </a:solidFill>
                <a:latin typeface="Aptos"/>
              </a:defRPr>
            </a:pPr>
            <a:r>
              <a:t>Updated architecture: dedicated MAGI analysis, IRMAA-as-tax presentation, external companion tooltips, and unified overlay conventions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91640"/>
            <a:ext cx="3383280" cy="26974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Input &amp; UI flags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Existing financial inputs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View-only IRMAA-as-tax checkbox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No new tax computation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691640"/>
            <a:ext cx="82296" cy="26974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07408" y="1691640"/>
            <a:ext cx="3383280" cy="26974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Compute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Projection rows include MAGI, IRMAA, tax, income components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Single financial source of truth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7408" y="1691640"/>
            <a:ext cx="82296" cy="26974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0456" y="1691640"/>
            <a:ext cx="3383280" cy="26974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Display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MAGI companion chart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Three-chart tax detail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External tooltips and unified dashed overlays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0456" y="1691640"/>
            <a:ext cx="82296" cy="26974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023360" y="3044952"/>
            <a:ext cx="320040" cy="0"/>
          </a:xfrm>
          <a:prstGeom prst="line">
            <a:avLst/>
          </a:prstGeom>
          <a:ln w="2540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836408" y="3044952"/>
            <a:ext cx="320040" cy="0"/>
          </a:xfrm>
          <a:prstGeom prst="line">
            <a:avLst/>
          </a:prstGeom>
          <a:ln w="2540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749039" y="3291840"/>
            <a:ext cx="8686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266EB2"/>
                </a:solidFill>
                <a:latin typeface="Aptos"/>
              </a:defRPr>
            </a:pPr>
            <a:r>
              <a:t>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3291840"/>
            <a:ext cx="12344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429761"/>
                </a:solidFill>
                <a:latin typeface="Aptos"/>
              </a:defRPr>
            </a:pPr>
            <a:r>
              <a:t>projection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37360" y="5029200"/>
            <a:ext cx="8686800" cy="7772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Presentation-only enhancement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The new charts and toggle re-express existing projection values; they do not alter AGI, MAGI, IRMAA calculations, tax results, or household cash flow.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5029200"/>
            <a:ext cx="82296" cy="77724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MAGI, IRMAA-as-tax, and enhanced companion-chart update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What changed in this version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planner adds a focused MAGI view and makes IRMAA easier to interpret alongside taxes while keeping all underlying financial logic in Compute.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2606040" cy="448056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MAGI chart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Companion to annual income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Source-colored stack sums exactly to row.magi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IRMAA thresholds and Part B premium increases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Focused two-line popup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82296" cy="448056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01568" y="1234440"/>
            <a:ext cx="2606040" cy="448056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Income chart refinement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IRMAA lines move off the primary income chart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Legend points readers to MAGI view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Primary chart keeps income, AGI, and funding detail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3401568" y="1234440"/>
            <a:ext cx="82296" cy="448056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0216" y="1234440"/>
            <a:ext cx="2606040" cy="448056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Tax view option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View IRMAA as tax checkbox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Dashed IRMAA surcharge above tax stack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Combined “Total tax + IRMAA” tooltip line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Display-only scale refresh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0216" y="1234440"/>
            <a:ext cx="82296" cy="448056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98864" y="1234440"/>
            <a:ext cx="2606040" cy="448056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Tooltip &amp; overlay system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External HTML tooltips for compact companions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One black dashed reference-line color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Reusable legend dash styles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98864" y="1234440"/>
            <a:ext cx="82296" cy="448056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MAGI, IRMAA-as-tax, and enhanced companion-chart update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MAGI companion chart: source colors plus IRMAA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income section becomes a two-chart layout: the main income stack explains cash flow, while the MAGI chart explains surcharge exposure.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70432"/>
            <a:ext cx="379476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Primary income chart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Two-thirds width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Income stack retains taxable and cash-flow components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 IRMAA bracket lines on this plot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Legend includes a dashed “IRMAA brackets (shown on MAGI chart)” cue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Details retain AGI and expense-funding information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617720" y="1170432"/>
            <a:ext cx="288036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MAGI chart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One-third width; top-aligned and 1:1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Same source colors and source order where applicable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Excludes non-cash rental depreciation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Counts SS only at taxable portion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Stack totals exactly to row.magi</a:t>
            </a:r>
          </a:p>
        </p:txBody>
      </p:sp>
      <p:sp>
        <p:nvSpPr>
          <p:cNvPr id="7" name="Rectangle 6"/>
          <p:cNvSpPr/>
          <p:nvPr/>
        </p:nvSpPr>
        <p:spPr>
          <a:xfrm>
            <a:off x="4617720" y="1170432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18120" y="1170432"/>
            <a:ext cx="370332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IRMAA overlay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MFJ tiers until filing switch; Single tiers afterward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Labels: threshold plus Part B premium increase over standard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Example: $218k +40%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External popup: MAGI and annual IRMAA surcharge only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1170432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4370832" y="3383280"/>
            <a:ext cx="182880" cy="0"/>
          </a:xfrm>
          <a:prstGeom prst="line">
            <a:avLst/>
          </a:prstGeom>
          <a:ln w="2540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62088" y="3383280"/>
            <a:ext cx="192024" cy="0"/>
          </a:xfrm>
          <a:prstGeom prst="line">
            <a:avLst/>
          </a:prstGeom>
          <a:ln w="2540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MAGI, IRMAA-as-tax, and enhanced companion-chart update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MAGI composition and IRMAA timing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companion view is display-driven, but it exposes the relationships already present in the annual projection contract.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2148840" cy="13258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Income sources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Taxable income components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Qualified income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Realized gains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Taxable SS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82296" cy="13258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017520" y="1234440"/>
            <a:ext cx="2148840" cy="13258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MAGI row field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magi = AGI + tax-exempt income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Tax-exempt income stays out of AGI but enters MAGI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1234440"/>
            <a:ext cx="82296" cy="13258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532120" y="1234440"/>
            <a:ext cx="2148840" cy="13258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Two-year look-back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IRMAA uses MAGI from two years earlier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Years 0–1 have no modeled surcharge</a:t>
            </a:r>
          </a:p>
        </p:txBody>
      </p:sp>
      <p:sp>
        <p:nvSpPr>
          <p:cNvPr id="9" name="Rectangle 8"/>
          <p:cNvSpPr/>
          <p:nvPr/>
        </p:nvSpPr>
        <p:spPr>
          <a:xfrm>
            <a:off x="5532120" y="1234440"/>
            <a:ext cx="82296" cy="13258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46720" y="1234440"/>
            <a:ext cx="2148840" cy="13258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Current-year tier view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Overlay uses filing status in force for displayed year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Tiers and premium increases are visual reference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234440"/>
            <a:ext cx="82296" cy="13258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61320" y="1234440"/>
            <a:ext cx="1051560" cy="132588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Expense</a:t>
            </a:r>
          </a:p>
          <a:p>
            <a:pPr>
              <a:spcBef>
                <a:spcPts val="3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IRMAA surcharge enters household expense pool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61320" y="1234440"/>
            <a:ext cx="82296" cy="132588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2697480" y="1920240"/>
            <a:ext cx="228600" cy="0"/>
          </a:xfrm>
          <a:prstGeom prst="line">
            <a:avLst/>
          </a:prstGeom>
          <a:ln w="2286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212080" y="1920240"/>
            <a:ext cx="228600" cy="0"/>
          </a:xfrm>
          <a:prstGeom prst="line">
            <a:avLst/>
          </a:prstGeom>
          <a:ln w="2286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726679" y="1920240"/>
            <a:ext cx="228600" cy="0"/>
          </a:xfrm>
          <a:prstGeom prst="line">
            <a:avLst/>
          </a:prstGeom>
          <a:ln w="22860">
            <a:solidFill>
              <a:srgbClr val="E589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241280" y="1920240"/>
            <a:ext cx="228600" cy="0"/>
          </a:xfrm>
          <a:prstGeom prst="line">
            <a:avLst/>
          </a:prstGeom>
          <a:ln w="22860">
            <a:solidFill>
              <a:srgbClr val="7852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51560" y="3794760"/>
            <a:ext cx="9921240" cy="114300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Boundary rule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The MAGI chart reads row.magi and row.irmaaSurcharge. It does not recreate the look-back calculation, determine premium tiers, or alter the expense waterfall.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1560" y="3794760"/>
            <a:ext cx="82296" cy="1143000"/>
          </a:xfrm>
          <a:prstGeom prst="rect">
            <a:avLst/>
          </a:prstGeom>
          <a:solidFill>
            <a:srgbClr val="168F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MAGI, IRMAA-as-tax, and enhanced companion-chart update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IRMAA as tax: an optional presentation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A header checkbox lets the user see the Medicare surcharge alongside income tax without changing total tax or the expense model.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188720"/>
            <a:ext cx="338328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Unchecked: tax view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Primary tax stack contains ordinary tax, qualified-income tiers, LTCG tiers, and NIIT.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IRMAA remains visible in expense analysis, where it is modeled as a household expense.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8872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188720"/>
            <a:ext cx="338328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Checked: combined view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Adds a dashed black IRMAA surcharge dataset above the tax stack.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 fill: visually distinct from tax segments.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Legend adds a dashed IRMAA entry.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Popup adds Total tax + IRMAA.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188720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0456" y="1188720"/>
            <a:ext cx="338328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Scale and state behavior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The Tax Rescale key is reset to include IRMAA when enabled.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viewIrmaaAsTax is a live display flag, not a projection input.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Expense chart and computed totalTax remain unchanged.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0456" y="118872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MAGI, IRMAA-as-tax, and enhanced companion-chart update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Companion-chart tooltips: compact, external, and consistent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Small charts use a shared external tooltip mechanism so detail can remain readable beyond the boundaries of a compact canvas.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3246120" cy="443484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Why external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Built-in Chart.js tooltips are clipped to their canvas.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Small companion panels need compact information that can overflow safely.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External tooltip renders into a floating monospace element.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82296" cy="443484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62272" y="1234440"/>
            <a:ext cx="3246120" cy="443484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External tooltip behavior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Receives pre-padded lines from justifyTip.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Flips left near the viewport edge.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Glides between positions with CSS transition.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Appears immediately on first display.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62272" y="1234440"/>
            <a:ext cx="82296" cy="443484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84464" y="1234440"/>
            <a:ext cx="3246120" cy="443484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Focused content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MAGI chart: MAGI and IRMAA surcharge only.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Ordinary tax chart: ordinary income tax only.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Qualified chart: non-zero QDIV/LTCG/NIIT layers only.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Show Details does not expand companion popups.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4464" y="1234440"/>
            <a:ext cx="82296" cy="443484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MAGI, IRMAA-as-tax, and enhanced companion-chart update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Unified overlays and legend conventions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Reference lines now use one visual language across income, MAGI, tax, and Social Security views.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70432"/>
            <a:ext cx="333756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Overlay convention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OVERLAY_COLOR is black.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Dashed horizontal lines are labeled with de-cluttered text.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Income IRMAA overlay is registered again as magiOverlay.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 bracket overlay marks ordinary-tax ceilings.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170432"/>
            <a:ext cx="333756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Legend convention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legendItem renders all legend entries.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legendDashStyle creates a matching dashed swatch.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Used for IRMAA brackets, ordinary tax brackets, and SS start-age reference lines.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170432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311896" y="1170432"/>
            <a:ext cx="333756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Readability convention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Companion charts use sparse axis ticks and no redundant legends or notes.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Primary charts provide the full story; companions isolate one analytical question.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11896" y="1170432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MAGI, IRMAA-as-tax, and enhanced companion-chart update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Expanded display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display layer gains analytical companion charts without weakening its role as a projection consumer.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228600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Projection rows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magi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irmaaSurcharge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Tax-stack fields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Income components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Filing status and 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00400" y="1143000"/>
            <a:ext cx="228600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Primary charts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Income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Expense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Asset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SS / TSS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Full context, legends, notes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14300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897880" y="1143000"/>
            <a:ext cx="228600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Companions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MAGI analysis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Ordinary-tax detail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Qualified-tax detail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Focused external popups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97880" y="114300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95360" y="1143000"/>
            <a:ext cx="269748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Shared services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Chart registry lifecycle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upsertLineChart updates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Overlay plugins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External tooltip handler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Locked scales and Rescale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1143000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834640" y="3383280"/>
            <a:ext cx="228600" cy="0"/>
          </a:xfrm>
          <a:prstGeom prst="line">
            <a:avLst/>
          </a:prstGeom>
          <a:ln w="2286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MAGI, IRMAA-as-tax, and enhanced companion-chart update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532120" y="3383280"/>
            <a:ext cx="228600" cy="0"/>
          </a:xfrm>
          <a:prstGeom prst="line">
            <a:avLst/>
          </a:prstGeom>
          <a:ln w="2286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MAGI, IRMAA-as-tax, and enhanced companion-chart update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29600" y="3383280"/>
            <a:ext cx="228600" cy="0"/>
          </a:xfrm>
          <a:prstGeom prst="line">
            <a:avLst/>
          </a:prstGeom>
          <a:ln w="22860">
            <a:solidFill>
              <a:srgbClr val="7852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MAGI, IRMAA-as-tax, and enhanced companion-chart update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Guardrails for future analytical views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MAGI and IRMAA enhancements preserve the essential architecture: Compute owns facts; Display improves interpretation.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338328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Add to projection first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Any new financial measure belongs in projection rows before it appears in a chart.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Keep look-back logic, thresholds, and tax calculation inside Compute.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188720"/>
            <a:ext cx="338328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Keep visual toggles visual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 presentation checkbox can change datasets, legends, and scale locks.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It must not mutate financial inputs or recompute an alternative model.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18872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74736" y="1188720"/>
            <a:ext cx="338328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Design companion charts narrowly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Give small charts one analytic job.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Reuse colors, rows, overlay conventions, tooltips, and scale policies.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Avoid duplicated information and duplicate financial logic.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74736" y="118872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MAGI, IRMAA-as-tax, and enhanced companion-chart update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