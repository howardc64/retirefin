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25296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46888"/>
            <a:ext cx="1078992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Retirement Income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400" b="0">
                <a:solidFill>
                  <a:srgbClr val="D2E1F0"/>
                </a:solidFill>
                <a:latin typeface="Aptos"/>
              </a:defRPr>
            </a:pPr>
            <a:r>
              <a:t>Updated architecture: percentage-based cost basis, backward-compatible migration, and textbook-style formulas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3383280" cy="26974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Input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Cards, controls, plan loading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Writes plan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691640"/>
            <a:ext cx="82296" cy="26974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07408" y="1691640"/>
            <a:ext cx="3383280" cy="26974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Compute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Annual projection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Basis, taxes, IRMAA, balances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1691640"/>
            <a:ext cx="82296" cy="26974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0456" y="1691640"/>
            <a:ext cx="3383280" cy="26974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Display &amp; export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Charts, formula reference, notes, XLSX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Reads projection output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0456" y="1691640"/>
            <a:ext cx="82296" cy="26974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023360" y="3044952"/>
            <a:ext cx="320040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836408" y="3044952"/>
            <a:ext cx="320040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49039" y="3291840"/>
            <a:ext cx="8686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266EB2"/>
                </a:solidFill>
                <a:latin typeface="Aptos"/>
              </a:defRPr>
            </a:pPr>
            <a:r>
              <a:t>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3291840"/>
            <a:ext cx="12344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429761"/>
                </a:solidFill>
                <a:latin typeface="Aptos"/>
              </a:defRPr>
            </a:pPr>
            <a:r>
              <a:t>projection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5029200"/>
            <a:ext cx="8686800" cy="777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Foundational contracts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state owns user inputs; computeProjection() owns derived values; Display and export consume projection rows.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5029200"/>
            <a:ext cx="82296" cy="7772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Basis-percentage and formula-page update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What changed in this 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latest revision changes how brokerage cost basis is entered and documented, not how the core layers interact.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234440"/>
            <a:ext cx="3383280" cy="44805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Cost-basis input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basisPct replaces dollar basis.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User enters 0–100% of start balance.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Blank remains null—not zero.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Input is clamped to the permitted range.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82296" cy="44805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234440"/>
            <a:ext cx="3383280" cy="44805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Load migration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Older dollar basis is converted to a percentage during hydrateState().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Older manual LTCG fields remain dropped.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Default fields and safe reset/hydration sequence stay intact.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234440"/>
            <a:ext cx="82296" cy="44805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0456" y="1234440"/>
            <a:ext cx="3383280" cy="448056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Formula presentation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Formula page now sets equations as centered display math.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Reusable helpers format equations, fractions, piecewise cases, and “where” captions.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Reference tables still come from Compute constants.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0456" y="1234440"/>
            <a:ext cx="82296" cy="44805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Basis-percentage and formula-page update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Percentage-based cost basis: input-to-model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UI captures an intuitive starting-basis percentage; the projection converts it to a dollar basis at the start of the plan.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98448"/>
            <a:ext cx="2148840" cy="13258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User input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Cost basis % of start balance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Allowed range: 0–100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Blank = not entered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82296" cy="13258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54680" y="1298448"/>
            <a:ext cx="214884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State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basisPct: number | null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Persisted in plan JSON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No dollar basis stored as input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298448"/>
            <a:ext cx="82296" cy="13258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760720" y="1298448"/>
            <a:ext cx="2331720" cy="13258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Projection start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basis = basisPct / 100 × balance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Clamp to [0, balance]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0" y="1298448"/>
            <a:ext cx="82296" cy="13258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49640" y="1298448"/>
            <a:ext cx="3063240" cy="13258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Ongoing model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Average-cost basis rolls forward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Drives gain fraction, realized LTCG, and unrealized gain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298448"/>
            <a:ext cx="82296" cy="13258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743200" y="1965960"/>
            <a:ext cx="256032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349240" y="1965960"/>
            <a:ext cx="256032" cy="0"/>
          </a:xfrm>
          <a:prstGeom prst="line">
            <a:avLst/>
          </a:prstGeom>
          <a:ln w="22860">
            <a:solidFill>
              <a:srgbClr val="0F26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138160" y="1965960"/>
            <a:ext cx="256032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234440" y="3703320"/>
            <a:ext cx="4389120" cy="13258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Blank-basis behavior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If Expenses is on but basisPct is blank, the model initializes basis = balance: no embedded gain today, but tracking remains active.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34440" y="3703320"/>
            <a:ext cx="82296" cy="13258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37960" y="3703320"/>
            <a:ext cx="438912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Why percentage input?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It communicates basis relative to the starting portfolio size and avoids presenting a dollar field that becomes context-dependent as balances change.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37960" y="3703320"/>
            <a:ext cx="82296" cy="132588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Basis-percentage and formula-page update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Backward-compatible state hydration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hydrateState() acts as the boundary between saved-plan versions and the current state contract.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228600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Legacy plan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May contain basis in dollars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May contain ltcg / ltcgMode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May omit newer defaults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46120" y="1143000"/>
            <a:ext cx="228600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Hydration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Merge onto default state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Preserve array entries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Drop unknown or stale fields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6120" y="114300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89320" y="1143000"/>
            <a:ext cx="228600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Migration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Dollar basis → basisPct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Blank remains null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Clamp valid percentage range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Remove retired LTCG inputs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14300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32520" y="1143000"/>
            <a:ext cx="269748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Current plan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Canonical basisPct input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Default hidden states applied on load/reset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Ready for recompute and rendering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32520" y="114300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834640" y="3383280"/>
            <a:ext cx="274320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77840" y="3383280"/>
            <a:ext cx="274319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321040" y="3383280"/>
            <a:ext cx="274320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5925312"/>
            <a:ext cx="1069848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0F2647"/>
                </a:solidFill>
                <a:latin typeface="Aptos"/>
              </a:defRPr>
            </a:pPr>
            <a:r>
              <a:t>Compatibility rule: state.js alone owns canonical defaults and normalizes old save formats before any computation runs.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Basis-percentage and formula-page update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Cost basis remains inside the annual projection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input unit changed; the calculation contract remains an annual, today’s-dollar average-cost model.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298448"/>
            <a:ext cx="2029968" cy="1965960"/>
          </a:xfrm>
          <a:prstGeom prst="roundRect">
            <a:avLst/>
          </a:prstGeom>
          <a:solidFill>
            <a:srgbClr val="FAFBFD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Start basis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basisPct × balance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82296" cy="19659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377440" y="2286000"/>
            <a:ext cx="228600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79192" y="1298448"/>
            <a:ext cx="2029968" cy="1965960"/>
          </a:xfrm>
          <a:prstGeom prst="roundRect">
            <a:avLst/>
          </a:prstGeom>
          <a:solidFill>
            <a:srgbClr val="FAFBFD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Gain fraction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(balance − basis) / balance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679192" y="1298448"/>
            <a:ext cx="82296" cy="196596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4736592" y="2286000"/>
            <a:ext cx="228600" cy="0"/>
          </a:xfrm>
          <a:prstGeom prst="line">
            <a:avLst/>
          </a:prstGeom>
          <a:ln w="22860">
            <a:solidFill>
              <a:srgbClr val="168F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38344" y="1298448"/>
            <a:ext cx="2029968" cy="1965960"/>
          </a:xfrm>
          <a:prstGeom prst="roundRect">
            <a:avLst/>
          </a:prstGeom>
          <a:solidFill>
            <a:srgbClr val="FAFBFD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Expenses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Fee + tax drag + IRMAA + withdrawal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38344" y="1298448"/>
            <a:ext cx="82296" cy="196596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7095744" y="2286000"/>
            <a:ext cx="228600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97496" y="1298448"/>
            <a:ext cx="2029968" cy="1965960"/>
          </a:xfrm>
          <a:prstGeom prst="roundRect">
            <a:avLst/>
          </a:prstGeom>
          <a:solidFill>
            <a:srgbClr val="FAFBFD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Waterfall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Dividends first; sell shortfall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7496" y="1298448"/>
            <a:ext cx="82296" cy="19659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9454896" y="2286000"/>
            <a:ext cx="228600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756648" y="1298448"/>
            <a:ext cx="2029968" cy="1965960"/>
          </a:xfrm>
          <a:prstGeom prst="roundRect">
            <a:avLst/>
          </a:prstGeom>
          <a:solidFill>
            <a:srgbClr val="FAFBFD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Basis roll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Cost recovery + reinvestment − inflation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56648" y="1298448"/>
            <a:ext cx="82296" cy="19659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4069080"/>
            <a:ext cx="5074920" cy="118872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Tax and cash-flow discipline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Each portfolio’s expenses are funded only by its own dividends and share sales. Realized LTCG comes only from the sold shortfall.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80"/>
            <a:ext cx="82296" cy="118872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63640" y="4069080"/>
            <a:ext cx="5074920" cy="118872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Estate and reporting continuity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Non-IDGT continuation can step basis up at death; IDGT retains carryover basis. Projection rows still expose basis and unrealized gain for Display and export.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069080"/>
            <a:ext cx="82296" cy="118872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Basis-percentage and formula-page update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Formulas page: a human-checkable model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formulas reference is now designed as a mathematical document while remaining tied to live application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24612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Presentation layer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Centered display equations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 equation per line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Fractions, powers, piecewise definitions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Small “where …” captions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Prose introduces equations rather than embedding math inline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80560" y="1234440"/>
            <a:ext cx="324612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Reference-data integrity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Bracket, IRMAA, and RMD tables are built directly from constants.js globals.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Tax-year updates automatically appear in the page.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Formula prose is maintained alongside computation changes.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123444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21040" y="1234440"/>
            <a:ext cx="324612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New helpers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fpEq: display equation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fpFr: stacked fraction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fpPw: piecewise expression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fpWhere: notation caption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page remains a standalone new-tab document.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123444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Basis-percentage and formula-page update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Example: the same model equation, clearly documented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Formulas are separated from prose so a reader can compare the page with the projection logic by hand.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188720"/>
            <a:ext cx="10515600" cy="73152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Prose introduction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initial cost basis is calculated from the optional entered percentage and the portfolio’s opening balance.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188720"/>
            <a:ext cx="82296" cy="73152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212848"/>
            <a:ext cx="85039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F2647"/>
                </a:solidFill>
                <a:latin typeface="Aptos"/>
              </a:defRPr>
            </a:pPr>
            <a:r>
              <a:t>basis₀ = (basisPct / 100) × balance₀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779776"/>
            <a:ext cx="85039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5D6C7A"/>
                </a:solidFill>
                <a:latin typeface="Aptos"/>
              </a:defRPr>
            </a:pPr>
            <a:r>
              <a:t>where basisPct is clamped to 0–100 and basis₀ is clamped to [0, balance₀]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657600"/>
            <a:ext cx="4937760" cy="123444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Computational use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This basis drives the gain fraction and is subsequently rolled forward after sales, reinvested dividends, and inflation.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57600"/>
            <a:ext cx="82296" cy="123444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3657600"/>
            <a:ext cx="4937760" cy="123444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Documentation guarantee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reference page formats the expression; projection.js remains the authoritative implementation of the behavior.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657600"/>
            <a:ext cx="82296" cy="123444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Basis-percentage and formula-page 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Inputs, outputs, and export remain aligned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field rename does not alter the core data-flow boundary: input state → projection rows → presentation and workbook.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Brokerage input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basisPct % field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0–100, blank = null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Enable / Hide independent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IRMAA option remains within Expenses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20440" y="1188720"/>
            <a:ext cx="260604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State &amp; compute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hydrate migrates legacy data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projection converts % to dollar basis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Annual rows include basis, gains, waterfall, IRMAA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40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0" y="1188720"/>
            <a:ext cx="260604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Charts &amp; pages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Asset chart uses projection basis/gain fields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Formulas page explains math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Notes remain externally authored Markdown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464040" y="1188720"/>
            <a:ext cx="214884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Excel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Reads lastProjection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Projection-by-year sheet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Brokerage-detail sheet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Never mutates state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64040" y="118872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200400" y="3383280"/>
            <a:ext cx="256032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72200" y="3383280"/>
            <a:ext cx="256032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3383280"/>
            <a:ext cx="256032" cy="0"/>
          </a:xfrm>
          <a:prstGeom prst="line">
            <a:avLst/>
          </a:prstGeom>
          <a:ln w="2286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Basis-percentage and formula-page update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Guardrails for future state-schema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Use the same migration and contract discipline whenever an input’s units, shape, or meaning changes.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383280" cy="443484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State first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Define the new canonical field and default in state.js.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Decide null semantics explicitly.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Provide hydration migration for meaningful legacy values.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82296" cy="443484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234440"/>
            <a:ext cx="3383280" cy="443484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Projection second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Convert input units at a defined modeling boundary.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Keep calculation logic in Compute.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Add derived fields to the projection-row contract.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234440"/>
            <a:ext cx="82296" cy="443484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74736" y="1234440"/>
            <a:ext cx="3383280" cy="443484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Presentation last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Render only projection fields.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Update Formula prose when math changes.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Keep exports read-only consumers of the current projection.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4736" y="1234440"/>
            <a:ext cx="82296" cy="443484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Basis-percentage and formula-page update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