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25296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37744"/>
            <a:ext cx="107899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tos"/>
              </a:defRPr>
            </a:pPr>
            <a:r>
              <a:t>Retirement Income Planner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22376"/>
            <a:ext cx="1051560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400" b="0">
                <a:solidFill>
                  <a:srgbClr val="D2E1F0"/>
                </a:solidFill>
                <a:latin typeface="Aptos"/>
              </a:defRPr>
            </a:pPr>
            <a:r>
              <a:t>Updated architecture: computation, interactive controls, content pages, and plan-loading workflow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91640"/>
            <a:ext cx="3383280" cy="2697480"/>
          </a:xfrm>
          <a:prstGeom prst="roundRect">
            <a:avLst/>
          </a:prstGeom>
          <a:solidFill>
            <a:srgbClr val="E9F4FF"/>
          </a:solidFill>
          <a:ln w="14604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0584"/>
          <a:lstStyle/>
          <a:p>
            <a:pPr algn="ctr">
              <a:defRPr sz="2000" b="1">
                <a:solidFill>
                  <a:srgbClr val="232D37"/>
                </a:solidFill>
                <a:latin typeface="Aptos Display"/>
              </a:defRPr>
            </a:pPr>
            <a:r>
              <a:t>Input</a:t>
            </a:r>
          </a:p>
          <a:p>
            <a:pPr>
              <a:spcBef>
                <a:spcPts val="4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Cards, controls, Load menu</a:t>
            </a:r>
          </a:p>
          <a:p>
            <a:pPr>
              <a:spcBef>
                <a:spcPts val="4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Writes mutable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691640"/>
            <a:ext cx="82296" cy="26974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07408" y="1691640"/>
            <a:ext cx="3383280" cy="2697480"/>
          </a:xfrm>
          <a:prstGeom prst="roundRect">
            <a:avLst/>
          </a:prstGeom>
          <a:solidFill>
            <a:srgbClr val="EAF9F4"/>
          </a:solidFill>
          <a:ln w="14604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0584"/>
          <a:lstStyle/>
          <a:p>
            <a:pPr algn="ctr">
              <a:defRPr sz="2000" b="1">
                <a:solidFill>
                  <a:srgbClr val="232D37"/>
                </a:solidFill>
                <a:latin typeface="Aptos Display"/>
              </a:defRPr>
            </a:pPr>
            <a:r>
              <a:t>Compute</a:t>
            </a:r>
          </a:p>
          <a:p>
            <a:pPr>
              <a:spcBef>
                <a:spcPts val="4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Pure annual projection</a:t>
            </a:r>
          </a:p>
          <a:p>
            <a:pPr>
              <a:spcBef>
                <a:spcPts val="4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What-if scenarios</a:t>
            </a:r>
          </a:p>
        </p:txBody>
      </p:sp>
      <p:sp>
        <p:nvSpPr>
          <p:cNvPr id="8" name="Rectangle 7"/>
          <p:cNvSpPr/>
          <p:nvPr/>
        </p:nvSpPr>
        <p:spPr>
          <a:xfrm>
            <a:off x="4407408" y="1691640"/>
            <a:ext cx="82296" cy="26974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0456" y="1691640"/>
            <a:ext cx="3383280" cy="2697480"/>
          </a:xfrm>
          <a:prstGeom prst="roundRect">
            <a:avLst/>
          </a:prstGeom>
          <a:solidFill>
            <a:srgbClr val="F7EFFF"/>
          </a:solidFill>
          <a:ln w="14604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0584"/>
          <a:lstStyle/>
          <a:p>
            <a:pPr algn="ctr">
              <a:defRPr sz="2000" b="1">
                <a:solidFill>
                  <a:srgbClr val="232D37"/>
                </a:solidFill>
                <a:latin typeface="Aptos Display"/>
              </a:defRPr>
            </a:pPr>
            <a:r>
              <a:t>Display</a:t>
            </a:r>
          </a:p>
          <a:p>
            <a:pPr>
              <a:spcBef>
                <a:spcPts val="4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Charts, Formulas, Notes</a:t>
            </a:r>
          </a:p>
          <a:p>
            <a:pPr>
              <a:spcBef>
                <a:spcPts val="4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Consumes projection rows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0456" y="1691640"/>
            <a:ext cx="82296" cy="26974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023360" y="3044952"/>
            <a:ext cx="320040" cy="0"/>
          </a:xfrm>
          <a:prstGeom prst="line">
            <a:avLst/>
          </a:prstGeom>
          <a:ln w="2540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836408" y="3044952"/>
            <a:ext cx="320040" cy="0"/>
          </a:xfrm>
          <a:prstGeom prst="line">
            <a:avLst/>
          </a:prstGeom>
          <a:ln w="2540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794760" y="3300984"/>
            <a:ext cx="77724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 b="1">
                <a:solidFill>
                  <a:srgbClr val="266EB2"/>
                </a:solidFill>
                <a:latin typeface="Aptos"/>
              </a:defRPr>
            </a:pPr>
            <a:r>
              <a:t>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0" y="3300984"/>
            <a:ext cx="114300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 b="1">
                <a:solidFill>
                  <a:srgbClr val="429761"/>
                </a:solidFill>
                <a:latin typeface="Aptos"/>
              </a:defRPr>
            </a:pPr>
            <a:r>
              <a:t>projection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28800" y="5029200"/>
            <a:ext cx="8503920" cy="777240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0584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Orchestrator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app.js boots the application and is the only place where Compute meets Display.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0" y="5029200"/>
            <a:ext cx="82296" cy="77724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510528"/>
            <a:ext cx="10881360" cy="1645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Updated specification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Runtime flow and responsibilities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560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app separates interaction, persistence, financial modeling, and visualization.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417320"/>
            <a:ext cx="1993392" cy="1325880"/>
          </a:xfrm>
          <a:prstGeom prst="roundRect">
            <a:avLst/>
          </a:prstGeom>
          <a:solidFill>
            <a:srgbClr val="FAFBFD"/>
          </a:solidFill>
          <a:ln w="14604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0584"/>
          <a:lstStyle/>
          <a:p>
            <a:pPr algn="ctr">
              <a:defRPr sz="1500" b="1">
                <a:solidFill>
                  <a:srgbClr val="232D37"/>
                </a:solidFill>
                <a:latin typeface="Aptos Display"/>
              </a:defRPr>
            </a:pPr>
            <a:r>
              <a:t>User action</a:t>
            </a:r>
          </a:p>
          <a:p>
            <a:pPr>
              <a:spcBef>
                <a:spcPts val="4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Field, slider, enable/hide, menu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417320"/>
            <a:ext cx="82296" cy="13258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2423160" y="2075688"/>
            <a:ext cx="256032" cy="0"/>
          </a:xfrm>
          <a:prstGeom prst="line">
            <a:avLst/>
          </a:prstGeom>
          <a:ln w="2286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761488" y="1417320"/>
            <a:ext cx="1993392" cy="1325880"/>
          </a:xfrm>
          <a:prstGeom prst="roundRect">
            <a:avLst/>
          </a:prstGeom>
          <a:solidFill>
            <a:srgbClr val="FAFBFD"/>
          </a:solidFill>
          <a:ln w="14604"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0584"/>
          <a:lstStyle/>
          <a:p>
            <a:pPr algn="ctr">
              <a:defRPr sz="1500" b="1">
                <a:solidFill>
                  <a:srgbClr val="232D37"/>
                </a:solidFill>
                <a:latin typeface="Aptos Display"/>
              </a:defRPr>
            </a:pPr>
            <a:r>
              <a:t>State mutation</a:t>
            </a:r>
          </a:p>
          <a:p>
            <a:pPr>
              <a:spcBef>
                <a:spcPts val="4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setPath() + autosave</a:t>
            </a:r>
          </a:p>
        </p:txBody>
      </p:sp>
      <p:sp>
        <p:nvSpPr>
          <p:cNvPr id="8" name="Rectangle 7"/>
          <p:cNvSpPr/>
          <p:nvPr/>
        </p:nvSpPr>
        <p:spPr>
          <a:xfrm>
            <a:off x="2761488" y="1417320"/>
            <a:ext cx="82296" cy="1325880"/>
          </a:xfrm>
          <a:prstGeom prst="rect">
            <a:avLst/>
          </a:prstGeom>
          <a:solidFill>
            <a:srgbClr val="168F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4773168" y="2075688"/>
            <a:ext cx="256032" cy="0"/>
          </a:xfrm>
          <a:prstGeom prst="line">
            <a:avLst/>
          </a:prstGeom>
          <a:ln w="22860">
            <a:solidFill>
              <a:srgbClr val="168F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11496" y="1417320"/>
            <a:ext cx="1993392" cy="1325880"/>
          </a:xfrm>
          <a:prstGeom prst="roundRect">
            <a:avLst/>
          </a:prstGeom>
          <a:solidFill>
            <a:srgbClr val="FAFBFD"/>
          </a:solidFill>
          <a:ln w="14604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0584"/>
          <a:lstStyle/>
          <a:p>
            <a:pPr algn="ctr">
              <a:defRPr sz="1500" b="1">
                <a:solidFill>
                  <a:srgbClr val="232D37"/>
                </a:solidFill>
                <a:latin typeface="Aptos Display"/>
              </a:defRPr>
            </a:pPr>
            <a:r>
              <a:t>Projection</a:t>
            </a:r>
          </a:p>
          <a:p>
            <a:pPr>
              <a:spcBef>
                <a:spcPts val="4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computeProjection()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11496" y="1417320"/>
            <a:ext cx="82296" cy="13258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7123176" y="2075688"/>
            <a:ext cx="256032" cy="0"/>
          </a:xfrm>
          <a:prstGeom prst="line">
            <a:avLst/>
          </a:prstGeom>
          <a:ln w="2286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61503" y="1417320"/>
            <a:ext cx="1993392" cy="1325880"/>
          </a:xfrm>
          <a:prstGeom prst="roundRect">
            <a:avLst/>
          </a:prstGeom>
          <a:solidFill>
            <a:srgbClr val="FAFBFD"/>
          </a:solidFill>
          <a:ln w="14604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0584"/>
          <a:lstStyle/>
          <a:p>
            <a:pPr algn="ctr">
              <a:defRPr sz="1500" b="1">
                <a:solidFill>
                  <a:srgbClr val="232D37"/>
                </a:solidFill>
                <a:latin typeface="Aptos Display"/>
              </a:defRPr>
            </a:pPr>
            <a:r>
              <a:t>Charts</a:t>
            </a:r>
          </a:p>
          <a:p>
            <a:pPr>
              <a:spcBef>
                <a:spcPts val="4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renderCharts()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61503" y="1417320"/>
            <a:ext cx="82296" cy="13258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9473184" y="2075688"/>
            <a:ext cx="256031" cy="0"/>
          </a:xfrm>
          <a:prstGeom prst="line">
            <a:avLst/>
          </a:prstGeom>
          <a:ln w="22860">
            <a:solidFill>
              <a:srgbClr val="7852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811511" y="1417320"/>
            <a:ext cx="1993392" cy="1325880"/>
          </a:xfrm>
          <a:prstGeom prst="roundRect">
            <a:avLst/>
          </a:prstGeom>
          <a:solidFill>
            <a:srgbClr val="FAFBFD"/>
          </a:solidFill>
          <a:ln w="14604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0584"/>
          <a:lstStyle/>
          <a:p>
            <a:pPr algn="ctr">
              <a:defRPr sz="1500" b="1">
                <a:solidFill>
                  <a:srgbClr val="232D37"/>
                </a:solidFill>
                <a:latin typeface="Aptos Display"/>
              </a:defRPr>
            </a:pPr>
            <a:r>
              <a:t>Pages</a:t>
            </a:r>
          </a:p>
          <a:p>
            <a:pPr>
              <a:spcBef>
                <a:spcPts val="4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Formulas / Notes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11511" y="1417320"/>
            <a:ext cx="82296" cy="13258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77240" y="3429000"/>
            <a:ext cx="3383280" cy="1508760"/>
          </a:xfrm>
          <a:prstGeom prst="roundRect">
            <a:avLst/>
          </a:prstGeom>
          <a:solidFill>
            <a:srgbClr val="EAF9F4"/>
          </a:solidFill>
          <a:ln w="14604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0584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Compute boundary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Reads state.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Produces one row per projected year.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Never touches the DOM.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429000"/>
            <a:ext cx="82296" cy="150876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407408" y="3429000"/>
            <a:ext cx="3383280" cy="1508760"/>
          </a:xfrm>
          <a:prstGeom prst="roundRect">
            <a:avLst/>
          </a:prstGeom>
          <a:solidFill>
            <a:srgbClr val="F7EFFF"/>
          </a:solidFill>
          <a:ln w="14604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0584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Display boundary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Reads projection rows.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Builds Chart.js datasets and pages.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Never recomputes finance.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07408" y="3429000"/>
            <a:ext cx="82296" cy="150876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37575" y="3429000"/>
            <a:ext cx="3383280" cy="1508760"/>
          </a:xfrm>
          <a:prstGeom prst="roundRect">
            <a:avLst/>
          </a:prstGeom>
          <a:solidFill>
            <a:srgbClr val="E9F4FF"/>
          </a:solidFill>
          <a:ln w="14604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0584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Input boundary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Renders controls and cards.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Updates state.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Hide actions do not recompute.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37575" y="3429000"/>
            <a:ext cx="82296" cy="150876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011680" y="5440680"/>
            <a:ext cx="8138160" cy="548640"/>
          </a:xfrm>
          <a:prstGeom prst="roundRect">
            <a:avLst/>
          </a:prstGeom>
          <a:solidFill>
            <a:srgbClr val="F8FAFC"/>
          </a:solidFill>
          <a:ln w="14604"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0584"/>
          <a:lstStyle/>
          <a:p>
            <a:pPr algn="ctr">
              <a:defRPr sz="1400" b="1">
                <a:solidFill>
                  <a:srgbClr val="232D37"/>
                </a:solidFill>
                <a:latin typeface="Aptos Display"/>
              </a:defRPr>
            </a:pPr>
            <a:r>
              <a:t>Interaction performance</a:t>
            </a:r>
          </a:p>
          <a:p>
            <a:pPr>
              <a:spcBef>
                <a:spcPts val="400"/>
              </a:spcBef>
              <a:defRPr sz="1000">
                <a:solidFill>
                  <a:srgbClr val="232D37"/>
                </a:solidFill>
                <a:latin typeface="Aptos"/>
              </a:defRPr>
            </a:pPr>
            <a:r>
              <a:t>Typing/sliders are debounced; checkbox and add/remove actions recompute immediately.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0" y="5440680"/>
            <a:ext cx="82296" cy="548640"/>
          </a:xfrm>
          <a:prstGeom prst="rect">
            <a:avLst/>
          </a:prstGeom>
          <a:solidFill>
            <a:srgbClr val="168F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0352" y="6510528"/>
            <a:ext cx="10881360" cy="1645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Updated specification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State model: compute inclusion is separate from screen visibility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560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updated schema adds independent enabled and hidden flags to every income-source item.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280160"/>
            <a:ext cx="3383280" cy="1143000"/>
          </a:xfrm>
          <a:prstGeom prst="roundRect">
            <a:avLst/>
          </a:prstGeom>
          <a:solidFill>
            <a:srgbClr val="EAF9F4"/>
          </a:solidFill>
          <a:ln w="14604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0584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enabled = financial participation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When true, the item is used by Compute and can appear in charts.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82296" cy="114300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2743200"/>
            <a:ext cx="3383280" cy="1143000"/>
          </a:xfrm>
          <a:prstGeom prst="roundRect">
            <a:avLst/>
          </a:prstGeom>
          <a:solidFill>
            <a:srgbClr val="E9F4FF"/>
          </a:solidFill>
          <a:ln w="14604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0584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hidden = visual collapse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When true, only the input card body is collapsed. Data remains intact and editable.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743200"/>
            <a:ext cx="82296" cy="114300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4206240"/>
            <a:ext cx="3383280" cy="1143000"/>
          </a:xfrm>
          <a:prstGeom prst="roundRect">
            <a:avLst/>
          </a:prstGeom>
          <a:solidFill>
            <a:srgbClr val="FFF6E8"/>
          </a:solidFill>
          <a:ln w="14604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0584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Default coupling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At fresh boot, reset, and file load: hidden is derived as !enabled.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206240"/>
            <a:ext cx="82296" cy="114300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00600" y="1051560"/>
            <a:ext cx="6309360" cy="4389120"/>
          </a:xfrm>
          <a:prstGeom prst="roundRect">
            <a:avLst/>
          </a:prstGeom>
          <a:solidFill>
            <a:srgbClr val="F8FAFC"/>
          </a:solidFill>
          <a:ln w="14604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0584"/>
          <a:lstStyle/>
          <a:p>
            <a:pPr algn="ctr">
              <a:defRPr sz="1900" b="1">
                <a:solidFill>
                  <a:srgbClr val="232D37"/>
                </a:solidFill>
                <a:latin typeface="Aptos Display"/>
              </a:defRPr>
            </a:pPr>
            <a:r>
              <a:t>Four valid item states</a:t>
            </a:r>
          </a:p>
          <a:p>
            <a:pPr>
              <a:spcBef>
                <a:spcPts val="4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Enabled + shown: active and expanded</a:t>
            </a:r>
          </a:p>
          <a:p>
            <a:pPr>
              <a:spcBef>
                <a:spcPts val="4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Enabled + hidden: active but compact</a:t>
            </a:r>
          </a:p>
          <a:p>
            <a:pPr>
              <a:spcBef>
                <a:spcPts val="4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Disabled + shown: editable but excluded</a:t>
            </a:r>
          </a:p>
          <a:p>
            <a:pPr>
              <a:spcBef>
                <a:spcPts val="4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Disabled + hidden: excluded and compact</a:t>
            </a:r>
          </a:p>
          <a:p>
            <a:pPr>
              <a:spcBef>
                <a:spcPts val="400"/>
              </a:spcBef>
              <a:defRPr sz="1400">
                <a:solidFill>
                  <a:srgbClr val="232D37"/>
                </a:solidFill>
                <a:latin typeface="Aptos"/>
              </a:defRPr>
            </a:pPr>
          </a:p>
          <a:p>
            <a:pPr>
              <a:spcBef>
                <a:spcPts val="4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Autosave preserves a user’s manual Hide/Show choices; only reset/load re-derives defaults.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00600" y="1051560"/>
            <a:ext cx="82296" cy="438912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4160520" y="1856231"/>
            <a:ext cx="530352" cy="0"/>
          </a:xfrm>
          <a:prstGeom prst="line">
            <a:avLst/>
          </a:prstGeom>
          <a:ln w="2540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160520" y="3319272"/>
            <a:ext cx="530352" cy="0"/>
          </a:xfrm>
          <a:prstGeom prst="line">
            <a:avLst/>
          </a:prstGeom>
          <a:ln w="2540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160520" y="4782312"/>
            <a:ext cx="530352" cy="0"/>
          </a:xfrm>
          <a:prstGeom prst="line">
            <a:avLst/>
          </a:prstGeom>
          <a:ln w="25400">
            <a:solidFill>
              <a:srgbClr val="E589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6510528"/>
            <a:ext cx="10881360" cy="1645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Updated specification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Input layer and plan-management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560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New components add reusable card headers and a sample-aware Load file menu.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3154680" cy="4526280"/>
          </a:xfrm>
          <a:prstGeom prst="roundRect">
            <a:avLst/>
          </a:prstGeom>
          <a:solidFill>
            <a:srgbClr val="E9F4FF"/>
          </a:solidFill>
          <a:ln w="14604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0584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Shared controls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cardHeader() standardizes Enable + Hide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onEnableToggle() changes compute inclusion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onHideToggle() only changes visual state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Age-range and annual-change widgets stay shared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Brokerage container has no global enable/hide: portfolios are independent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069080" y="1234440"/>
            <a:ext cx="3154680" cy="4526280"/>
          </a:xfrm>
          <a:prstGeom prst="roundRect">
            <a:avLst/>
          </a:prstGeom>
          <a:solidFill>
            <a:srgbClr val="FFF6E8"/>
          </a:solidFill>
          <a:ln w="14604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0584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Load file ▾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Choose local file uses browser picker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Samples are discovered from manifest.json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Selecting a sample fetches JSON then applies normal load path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Menu opens quickly; sample discovery fills asynchronously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File:// limitations are explained in the UI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9080" y="1234440"/>
            <a:ext cx="82296" cy="45262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635240" y="1234440"/>
            <a:ext cx="3886200" cy="4526280"/>
          </a:xfrm>
          <a:prstGeom prst="roundRect">
            <a:avLst/>
          </a:prstGeom>
          <a:solidFill>
            <a:srgbClr val="F7EFFF"/>
          </a:solidFill>
          <a:ln w="14604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0584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Safe load sequence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1. Destroy existing chart instances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2. Reset to defaults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3. Hydrate imported JSON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4. Apply default hidden-from-enabled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5. Full render and recompute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This sequence avoids stale charts and stale fields after a restore.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635240" y="1234440"/>
            <a:ext cx="82296" cy="45262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645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Updated specification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Projection engine: annual modeling with new portfolio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560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computeProjection() remains the single source of all derived financial values.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98448"/>
            <a:ext cx="1618488" cy="2423160"/>
          </a:xfrm>
          <a:prstGeom prst="roundRect">
            <a:avLst/>
          </a:prstGeom>
          <a:solidFill>
            <a:srgbClr val="FAFBFD"/>
          </a:solidFill>
          <a:ln w="14604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0584"/>
          <a:lstStyle/>
          <a:p>
            <a:pPr algn="ctr">
              <a:defRPr sz="1400" b="1">
                <a:solidFill>
                  <a:srgbClr val="232D37"/>
                </a:solidFill>
                <a:latin typeface="Aptos Display"/>
              </a:defRPr>
            </a:pPr>
            <a:r>
              <a:t>Life</a:t>
            </a:r>
          </a:p>
          <a:p>
            <a:pPr>
              <a:spcBef>
                <a:spcPts val="400"/>
              </a:spcBef>
              <a:defRPr sz="1000">
                <a:solidFill>
                  <a:srgbClr val="232D37"/>
                </a:solidFill>
                <a:latin typeface="Aptos"/>
              </a:defRPr>
            </a:pPr>
            <a:r>
              <a:t>Ages, survival, filing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82296" cy="242316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2103120" y="2487168"/>
            <a:ext cx="228600" cy="0"/>
          </a:xfrm>
          <a:prstGeom prst="line">
            <a:avLst/>
          </a:prstGeom>
          <a:ln w="1905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395728" y="1298448"/>
            <a:ext cx="1618488" cy="2423160"/>
          </a:xfrm>
          <a:prstGeom prst="roundRect">
            <a:avLst/>
          </a:prstGeom>
          <a:solidFill>
            <a:srgbClr val="FAFBFD"/>
          </a:solidFill>
          <a:ln w="14604"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0584"/>
          <a:lstStyle/>
          <a:p>
            <a:pPr algn="ctr">
              <a:defRPr sz="1400" b="1">
                <a:solidFill>
                  <a:srgbClr val="232D37"/>
                </a:solidFill>
                <a:latin typeface="Aptos Display"/>
              </a:defRPr>
            </a:pPr>
            <a:r>
              <a:t>Income</a:t>
            </a:r>
          </a:p>
          <a:p>
            <a:pPr>
              <a:spcBef>
                <a:spcPts val="400"/>
              </a:spcBef>
              <a:defRPr sz="1000">
                <a:solidFill>
                  <a:srgbClr val="232D37"/>
                </a:solidFill>
                <a:latin typeface="Aptos"/>
              </a:defRPr>
            </a:pPr>
            <a:r>
              <a:t>Wages, SS, pension, rental</a:t>
            </a:r>
          </a:p>
        </p:txBody>
      </p:sp>
      <p:sp>
        <p:nvSpPr>
          <p:cNvPr id="8" name="Rectangle 7"/>
          <p:cNvSpPr/>
          <p:nvPr/>
        </p:nvSpPr>
        <p:spPr>
          <a:xfrm>
            <a:off x="2395728" y="1298448"/>
            <a:ext cx="82296" cy="2423160"/>
          </a:xfrm>
          <a:prstGeom prst="rect">
            <a:avLst/>
          </a:prstGeom>
          <a:solidFill>
            <a:srgbClr val="168F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4041648" y="2487168"/>
            <a:ext cx="228600" cy="0"/>
          </a:xfrm>
          <a:prstGeom prst="line">
            <a:avLst/>
          </a:prstGeom>
          <a:ln w="19050">
            <a:solidFill>
              <a:srgbClr val="168F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34256" y="1298448"/>
            <a:ext cx="1618488" cy="2423160"/>
          </a:xfrm>
          <a:prstGeom prst="roundRect">
            <a:avLst/>
          </a:prstGeom>
          <a:solidFill>
            <a:srgbClr val="FAFBFD"/>
          </a:solidFill>
          <a:ln w="14604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0584"/>
          <a:lstStyle/>
          <a:p>
            <a:pPr algn="ctr">
              <a:defRPr sz="1400" b="1">
                <a:solidFill>
                  <a:srgbClr val="232D37"/>
                </a:solidFill>
                <a:latin typeface="Aptos Display"/>
              </a:defRPr>
            </a:pPr>
            <a:r>
              <a:t>Portfolio</a:t>
            </a:r>
          </a:p>
          <a:p>
            <a:pPr>
              <a:spcBef>
                <a:spcPts val="400"/>
              </a:spcBef>
              <a:defRPr sz="1000">
                <a:solidFill>
                  <a:srgbClr val="232D37"/>
                </a:solidFill>
                <a:latin typeface="Aptos"/>
              </a:defRPr>
            </a:pPr>
            <a:r>
              <a:t>Dividends, LTCG, FTC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4256" y="1298448"/>
            <a:ext cx="82296" cy="242316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5980176" y="2487168"/>
            <a:ext cx="228600" cy="0"/>
          </a:xfrm>
          <a:prstGeom prst="line">
            <a:avLst/>
          </a:prstGeom>
          <a:ln w="1905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272784" y="1298448"/>
            <a:ext cx="1618488" cy="2423160"/>
          </a:xfrm>
          <a:prstGeom prst="roundRect">
            <a:avLst/>
          </a:prstGeom>
          <a:solidFill>
            <a:srgbClr val="FAFBFD"/>
          </a:solidFill>
          <a:ln w="14604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0584"/>
          <a:lstStyle/>
          <a:p>
            <a:pPr algn="ctr">
              <a:defRPr sz="1400" b="1">
                <a:solidFill>
                  <a:srgbClr val="232D37"/>
                </a:solidFill>
                <a:latin typeface="Aptos Display"/>
              </a:defRPr>
            </a:pPr>
            <a:r>
              <a:t>Retirement</a:t>
            </a:r>
          </a:p>
          <a:p>
            <a:pPr>
              <a:spcBef>
                <a:spcPts val="400"/>
              </a:spcBef>
              <a:defRPr sz="1000">
                <a:solidFill>
                  <a:srgbClr val="232D37"/>
                </a:solidFill>
                <a:latin typeface="Aptos"/>
              </a:defRPr>
            </a:pPr>
            <a:r>
              <a:t>RMD + Roth conversion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2784" y="1298448"/>
            <a:ext cx="82296" cy="242316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7918704" y="2487168"/>
            <a:ext cx="228600" cy="0"/>
          </a:xfrm>
          <a:prstGeom prst="line">
            <a:avLst/>
          </a:prstGeom>
          <a:ln w="19050">
            <a:solidFill>
              <a:srgbClr val="E589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211312" y="1298448"/>
            <a:ext cx="1618488" cy="2423160"/>
          </a:xfrm>
          <a:prstGeom prst="roundRect">
            <a:avLst/>
          </a:prstGeom>
          <a:solidFill>
            <a:srgbClr val="FAFBFD"/>
          </a:solidFill>
          <a:ln w="14604">
            <a:solidFill>
              <a:srgbClr val="BF47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0584"/>
          <a:lstStyle/>
          <a:p>
            <a:pPr algn="ctr">
              <a:defRPr sz="1400" b="1">
                <a:solidFill>
                  <a:srgbClr val="232D37"/>
                </a:solidFill>
                <a:latin typeface="Aptos Display"/>
              </a:defRPr>
            </a:pPr>
            <a:r>
              <a:t>Tax</a:t>
            </a:r>
          </a:p>
          <a:p>
            <a:pPr>
              <a:spcBef>
                <a:spcPts val="400"/>
              </a:spcBef>
              <a:defRPr sz="1000">
                <a:solidFill>
                  <a:srgbClr val="232D37"/>
                </a:solidFill>
                <a:latin typeface="Aptos"/>
              </a:defRPr>
            </a:pPr>
            <a:r>
              <a:t>AGI, SS tax, NIIT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11312" y="1298448"/>
            <a:ext cx="82296" cy="2423160"/>
          </a:xfrm>
          <a:prstGeom prst="rect">
            <a:avLst/>
          </a:prstGeom>
          <a:solidFill>
            <a:srgbClr val="BF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9857232" y="2487168"/>
            <a:ext cx="228600" cy="0"/>
          </a:xfrm>
          <a:prstGeom prst="line">
            <a:avLst/>
          </a:prstGeom>
          <a:ln w="19050">
            <a:solidFill>
              <a:srgbClr val="BF47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0149840" y="1298448"/>
            <a:ext cx="1618488" cy="2423160"/>
          </a:xfrm>
          <a:prstGeom prst="roundRect">
            <a:avLst/>
          </a:prstGeom>
          <a:solidFill>
            <a:srgbClr val="FAFBFD"/>
          </a:solidFill>
          <a:ln w="14604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0584"/>
          <a:lstStyle/>
          <a:p>
            <a:pPr algn="ctr">
              <a:defRPr sz="1400" b="1">
                <a:solidFill>
                  <a:srgbClr val="232D37"/>
                </a:solidFill>
                <a:latin typeface="Aptos Display"/>
              </a:defRPr>
            </a:pPr>
            <a:r>
              <a:t>Balances</a:t>
            </a:r>
          </a:p>
          <a:p>
            <a:pPr>
              <a:spcBef>
                <a:spcPts val="400"/>
              </a:spcBef>
              <a:defRPr sz="1000">
                <a:solidFill>
                  <a:srgbClr val="232D37"/>
                </a:solidFill>
                <a:latin typeface="Aptos"/>
              </a:defRPr>
            </a:pPr>
            <a:r>
              <a:t>Growth, fees, withdrawals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49840" y="1298448"/>
            <a:ext cx="82296" cy="242316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1520" y="4251960"/>
            <a:ext cx="5166360" cy="1143000"/>
          </a:xfrm>
          <a:prstGeom prst="roundRect">
            <a:avLst/>
          </a:prstGeom>
          <a:solidFill>
            <a:srgbClr val="EAF9F4"/>
          </a:solidFill>
          <a:ln w="14604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0584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Updated brokerage behavior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Foreign assets and foreign-tax credit are always active, independent of Expenses and IDGT settings.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251960"/>
            <a:ext cx="82296" cy="114300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63640" y="4251960"/>
            <a:ext cx="5166360" cy="1143000"/>
          </a:xfrm>
          <a:prstGeom prst="roundRect">
            <a:avLst/>
          </a:prstGeom>
          <a:solidFill>
            <a:srgbClr val="FFF6E8"/>
          </a:solidFill>
          <a:ln w="14604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0584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Avoiding circular LTCG logic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Percentage-based realized LTCG uses prior-year total tax; year zero uses 0. This removes any same-year fixed-point loop.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251960"/>
            <a:ext cx="82296" cy="114300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0352" y="6510528"/>
            <a:ext cx="10881360" cy="1645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Updated specification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Display layer: charts plus transparent reference pages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560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updated display layer has two additional browser-tab pages alongside the Chart.js views.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2743200" cy="4480560"/>
          </a:xfrm>
          <a:prstGeom prst="roundRect">
            <a:avLst/>
          </a:prstGeom>
          <a:solidFill>
            <a:srgbClr val="F7EFFF"/>
          </a:solidFill>
          <a:ln w="14604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0584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Charts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SS breakeven scenarios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Annual income stack + IRMAA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Taxable SS and marginal rate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Income-tax stack + rates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Assets, including separate IDGT view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Shared overlays, tooltips, locked scales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82296" cy="448056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0" y="1234440"/>
            <a:ext cx="3566160" cy="4480560"/>
          </a:xfrm>
          <a:prstGeom prst="roundRect">
            <a:avLst/>
          </a:prstGeom>
          <a:solidFill>
            <a:srgbClr val="E9F4FF"/>
          </a:solidFill>
          <a:ln w="14604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0584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Formulas page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Opened in a new tab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Glossary, reference tables, and equations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Tables are generated from the same constants used by Compute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 duplicated tax/RMD constants in page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0" y="1234440"/>
            <a:ext cx="82296" cy="448056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589520" y="1234440"/>
            <a:ext cx="3977639" cy="4480560"/>
          </a:xfrm>
          <a:prstGeom prst="roundRect">
            <a:avLst/>
          </a:prstGeom>
          <a:solidFill>
            <a:srgbClr val="FFF6E8"/>
          </a:solidFill>
          <a:ln w="14604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0584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Notes page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Opened in a new tab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Fetches misc/Note4User.md at click time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Small built-in Markdown converter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 code change needed when notes change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Explains file:// fetch limitation and workarounds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1234440"/>
            <a:ext cx="82296" cy="448056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645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Updated specification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Expanded project structure and browser loading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560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app still uses plain non-module scripts in dependency order—no build step is required.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43000"/>
            <a:ext cx="2423160" cy="4526280"/>
          </a:xfrm>
          <a:prstGeom prst="roundRect">
            <a:avLst/>
          </a:prstGeom>
          <a:solidFill>
            <a:srgbClr val="F8FAFC"/>
          </a:solidFill>
          <a:ln w="14604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0584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Core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constants.js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helpers.js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state.js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Owns data tables, utilities, persistence, and defaults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82296" cy="452628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46120" y="1143000"/>
            <a:ext cx="2423160" cy="4526280"/>
          </a:xfrm>
          <a:prstGeom prst="roundRect">
            <a:avLst/>
          </a:prstGeom>
          <a:solidFill>
            <a:srgbClr val="EAF9F4"/>
          </a:solidFill>
          <a:ln w="14604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0584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Compute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Social Security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RMD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Tax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Dates &amp; age range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Projection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What-if</a:t>
            </a:r>
          </a:p>
        </p:txBody>
      </p:sp>
      <p:sp>
        <p:nvSpPr>
          <p:cNvPr id="7" name="Rectangle 6"/>
          <p:cNvSpPr/>
          <p:nvPr/>
        </p:nvSpPr>
        <p:spPr>
          <a:xfrm>
            <a:off x="3246120" y="1143000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89320" y="1143000"/>
            <a:ext cx="2423160" cy="4526280"/>
          </a:xfrm>
          <a:prstGeom prst="roundRect">
            <a:avLst/>
          </a:prstGeom>
          <a:solidFill>
            <a:srgbClr val="E9F4FF"/>
          </a:solidFill>
          <a:ln w="14604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0584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Input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Controls &amp; household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Assumptions &amp; income cards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incomeForms.js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loadMenu.js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114300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732520" y="1143000"/>
            <a:ext cx="2926080" cy="4526280"/>
          </a:xfrm>
          <a:prstGeom prst="roundRect">
            <a:avLst/>
          </a:prstGeom>
          <a:solidFill>
            <a:srgbClr val="F7EFFF"/>
          </a:solidFill>
          <a:ln w="14604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0584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Display &amp; content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Chart helpers and chart files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footer.js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formulasPage.js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notesPage.js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misc/Note4User.md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Samples/*.json + manifest.json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32520" y="1143000"/>
            <a:ext cx="82296" cy="45262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2971800" y="3383280"/>
            <a:ext cx="201168" cy="0"/>
          </a:xfrm>
          <a:prstGeom prst="line">
            <a:avLst/>
          </a:prstGeom>
          <a:ln w="22860">
            <a:solidFill>
              <a:srgbClr val="0F26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715000" y="3383280"/>
            <a:ext cx="201168" cy="0"/>
          </a:xfrm>
          <a:prstGeom prst="line">
            <a:avLst/>
          </a:prstGeom>
          <a:ln w="2286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458200" y="3383280"/>
            <a:ext cx="201168" cy="0"/>
          </a:xfrm>
          <a:prstGeom prst="line">
            <a:avLst/>
          </a:prstGeom>
          <a:ln w="2286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943600"/>
            <a:ext cx="1088136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 b="1">
                <a:solidFill>
                  <a:srgbClr val="0F2647"/>
                </a:solidFill>
                <a:latin typeface="Aptos"/>
              </a:defRPr>
            </a:pPr>
            <a:r>
              <a:t>Load-order rule: a script may only rely on names defined by scripts loaded earlier.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6510528"/>
            <a:ext cx="10881360" cy="1645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Updated specification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Extension workflow and guardrails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560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Preserve the contracts to add features without mixing responsibilities.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1993392" cy="1783080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0584"/>
          <a:lstStyle/>
          <a:p>
            <a:pPr algn="ctr">
              <a:defRPr sz="1500" b="1">
                <a:solidFill>
                  <a:srgbClr val="232D37"/>
                </a:solidFill>
                <a:latin typeface="Aptos Display"/>
              </a:defRPr>
            </a:pPr>
            <a:r>
              <a:t>1. State</a:t>
            </a:r>
          </a:p>
          <a:p>
            <a:pPr>
              <a:spcBef>
                <a:spcPts val="4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Schema + defaults</a:t>
            </a:r>
          </a:p>
          <a:p>
            <a:pPr>
              <a:spcBef>
                <a:spcPts val="4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core/state.js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82296" cy="17830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2468880" y="2221992"/>
            <a:ext cx="246888" cy="0"/>
          </a:xfrm>
          <a:prstGeom prst="line">
            <a:avLst/>
          </a:prstGeom>
          <a:ln w="2540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788920" y="1325880"/>
            <a:ext cx="1993392" cy="1783080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0584"/>
          <a:lstStyle/>
          <a:p>
            <a:pPr algn="ctr">
              <a:defRPr sz="1500" b="1">
                <a:solidFill>
                  <a:srgbClr val="232D37"/>
                </a:solidFill>
                <a:latin typeface="Aptos Display"/>
              </a:defRPr>
            </a:pPr>
            <a:r>
              <a:t>2. Input</a:t>
            </a:r>
          </a:p>
          <a:p>
            <a:pPr>
              <a:spcBef>
                <a:spcPts val="4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Card/control behavior</a:t>
            </a:r>
          </a:p>
          <a:p>
            <a:pPr>
              <a:spcBef>
                <a:spcPts val="4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js/input/</a:t>
            </a:r>
          </a:p>
        </p:txBody>
      </p:sp>
      <p:sp>
        <p:nvSpPr>
          <p:cNvPr id="8" name="Rectangle 7"/>
          <p:cNvSpPr/>
          <p:nvPr/>
        </p:nvSpPr>
        <p:spPr>
          <a:xfrm>
            <a:off x="2788920" y="1325880"/>
            <a:ext cx="82296" cy="1783080"/>
          </a:xfrm>
          <a:prstGeom prst="rect">
            <a:avLst/>
          </a:prstGeom>
          <a:solidFill>
            <a:srgbClr val="168F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4800600" y="2221992"/>
            <a:ext cx="246888" cy="0"/>
          </a:xfrm>
          <a:prstGeom prst="line">
            <a:avLst/>
          </a:prstGeom>
          <a:ln w="25400">
            <a:solidFill>
              <a:srgbClr val="168F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20640" y="1325880"/>
            <a:ext cx="1993392" cy="1783080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0584"/>
          <a:lstStyle/>
          <a:p>
            <a:pPr algn="ctr">
              <a:defRPr sz="1500" b="1">
                <a:solidFill>
                  <a:srgbClr val="232D37"/>
                </a:solidFill>
                <a:latin typeface="Aptos Display"/>
              </a:defRPr>
            </a:pPr>
            <a:r>
              <a:t>3. Compute</a:t>
            </a:r>
          </a:p>
          <a:p>
            <a:pPr>
              <a:spcBef>
                <a:spcPts val="4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Projection fields</a:t>
            </a:r>
          </a:p>
          <a:p>
            <a:pPr>
              <a:spcBef>
                <a:spcPts val="4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projection.js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1325880"/>
            <a:ext cx="82296" cy="17830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7132320" y="2221992"/>
            <a:ext cx="246888" cy="0"/>
          </a:xfrm>
          <a:prstGeom prst="line">
            <a:avLst/>
          </a:prstGeom>
          <a:ln w="2540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52359" y="1325880"/>
            <a:ext cx="1993392" cy="1783080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0584"/>
          <a:lstStyle/>
          <a:p>
            <a:pPr algn="ctr">
              <a:defRPr sz="1500" b="1">
                <a:solidFill>
                  <a:srgbClr val="232D37"/>
                </a:solidFill>
                <a:latin typeface="Aptos Display"/>
              </a:defRPr>
            </a:pPr>
            <a:r>
              <a:t>4. Display</a:t>
            </a:r>
          </a:p>
          <a:p>
            <a:pPr>
              <a:spcBef>
                <a:spcPts val="4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Chart/page presentation</a:t>
            </a:r>
          </a:p>
          <a:p>
            <a:pPr>
              <a:spcBef>
                <a:spcPts val="4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js/display/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59" y="1325880"/>
            <a:ext cx="82296" cy="17830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9464039" y="2221992"/>
            <a:ext cx="246889" cy="0"/>
          </a:xfrm>
          <a:prstGeom prst="line">
            <a:avLst/>
          </a:prstGeom>
          <a:ln w="25400">
            <a:solidFill>
              <a:srgbClr val="7852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784080" y="1325880"/>
            <a:ext cx="1993392" cy="1783080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0584"/>
          <a:lstStyle/>
          <a:p>
            <a:pPr algn="ctr">
              <a:defRPr sz="1500" b="1">
                <a:solidFill>
                  <a:srgbClr val="232D37"/>
                </a:solidFill>
                <a:latin typeface="Aptos Display"/>
              </a:defRPr>
            </a:pPr>
            <a:r>
              <a:t>5. Docs</a:t>
            </a:r>
          </a:p>
          <a:p>
            <a:pPr>
              <a:spcBef>
                <a:spcPts val="4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File-level contracts</a:t>
            </a:r>
          </a:p>
          <a:p>
            <a:pPr>
              <a:spcBef>
                <a:spcPts val="4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ARCHITECTURE.md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84080" y="1325880"/>
            <a:ext cx="82296" cy="17830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85800" y="3977639"/>
            <a:ext cx="3429000" cy="1325880"/>
          </a:xfrm>
          <a:prstGeom prst="roundRect">
            <a:avLst/>
          </a:prstGeom>
          <a:solidFill>
            <a:srgbClr val="E9F4FF"/>
          </a:solidFill>
          <a:ln w="14604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0584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Source of truth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State owns inputs; projection rows own derived values.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977639"/>
            <a:ext cx="82296" cy="13258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89120" y="3977639"/>
            <a:ext cx="3429000" cy="1325880"/>
          </a:xfrm>
          <a:prstGeom prst="roundRect">
            <a:avLst/>
          </a:prstGeom>
          <a:solidFill>
            <a:srgbClr val="EAF9F4"/>
          </a:solidFill>
          <a:ln w="14604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0584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Layer discipline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Compute stays DOM-free; Display avoids financial recomputation.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0" y="3977639"/>
            <a:ext cx="82296" cy="13258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92440" y="3977639"/>
            <a:ext cx="3429000" cy="1325880"/>
          </a:xfrm>
          <a:prstGeom prst="roundRect">
            <a:avLst/>
          </a:prstGeom>
          <a:solidFill>
            <a:srgbClr val="FFF6E8"/>
          </a:solidFill>
          <a:ln w="14604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0584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User experience</a:t>
            </a:r>
          </a:p>
          <a:p>
            <a:pPr>
              <a:spcBef>
                <a:spcPts val="4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Reuse controls; preserve enable/hide independence; document local-file limits clearly.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2440" y="3977639"/>
            <a:ext cx="82296" cy="13258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806440"/>
            <a:ext cx="108813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F2647"/>
                </a:solidFill>
                <a:latin typeface="Aptos"/>
              </a:defRPr>
            </a:pPr>
            <a:r>
              <a:t>This updated architecture supports richer plan management and documentation without weakening the core Input → Compute → Display boundaries.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0352" y="6510528"/>
            <a:ext cx="10881360" cy="1645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Updated specification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