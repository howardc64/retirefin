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multiple rentals, tax-exempt portfolio income, senior deduction, excess reinvestment, and legacy-value views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Household assumptions and income cards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Supports multiple rentals and portfolio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Annual projection + converged tax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Income, cash flow, tax, basis, legacy tail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services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Charts, sliders, export, formulas, notes, chat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Projection-row consumers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Core boundary preserved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 is the only input truth. computeProjection() remains the only source for financial outputs; all views consume its rows.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 design extends income types, household cash flow, tax treatment, post-passing legacy views, and input migration.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234440"/>
            <a:ext cx="228600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Rentals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Many rental properties per person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net income + non-cash depreciation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Independent age range, change, survivor, enable/hide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1234440"/>
            <a:ext cx="228600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Portfolio cash flow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Tax-exempt yield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Reinvest excess 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Cash income now includes depreciation and tax-exempt payouts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13248" y="1234440"/>
            <a:ext cx="228600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Tax rules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Tax-exempt income affects SS provisional income and IRMAA MAGI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Enhanced senior deduction for 2025–2028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3248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00416" y="1234440"/>
            <a:ext cx="228600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Legacy view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10-year stretch tail includes selected IRAs and continuing non-IDGT brokerage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 devalue sliders model display-only haircuts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6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387584" y="1234440"/>
            <a:ext cx="1371600" cy="448056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UI &amp; migration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Conversion-start modes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Legacy saved-plan transformations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87584" y="1234440"/>
            <a:ext cx="82296" cy="448056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Rental income becomes a portfolio of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Each person can add, name, enable, hide, and remove rental-property sub-cards.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3375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Rental property schema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Name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rental income: net of depreciation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Annual non-cash depreciation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Age range and annual change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Survivor continuation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Independent Enable / Hide / Remove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3756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Projection treatment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Rental income sums across active properties.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Depreciation follows the same activation, age-range, and survivor rules.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Depreciation is deflated because it is a fixed nominal deduction.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188720"/>
            <a:ext cx="333756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Cash vs. tax treatment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rental amount enters ordinary income and AGI.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Depreciation is non-cash: it increases cashIncome but is never taxed.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chart shows both as distinct stacked bands.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Tax-exempt portfolio income changes cash flow, not AGI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 portfolio’s tax-exempt yield pays cash to the household and reduces the portfolio balance, while remaining excluded from ordinary taxable income.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240280" cy="13258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Tax-exempt payout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teIncome = balance × teYield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Portfolio balance falls by same amount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63240" y="1234440"/>
            <a:ext cx="2240280" cy="13258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Cash flow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Included in cashIncome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Can cover household expenses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Reduces dividend/sale funding need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234440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23560" y="1234440"/>
            <a:ext cx="2240280" cy="13258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Tax treatment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Not in AGI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Not in ordinary or qualified taxable income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Not in senior-deduction MAGI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234440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83879" y="1234440"/>
            <a:ext cx="3337560" cy="13258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Still affects thresholds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Included in Social Security provisional income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Added to MAGI for two-year IRMAA look-back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234440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788920" y="1901952"/>
            <a:ext cx="201168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349240" y="1901952"/>
            <a:ext cx="201167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909560" y="1901952"/>
            <a:ext cx="201168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143000" y="3703320"/>
            <a:ext cx="9875520" cy="123444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Projection contract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Rows expose teIncome, teByPerson, and magi. Each portfolio row carries its own taxExempt amount; all downstream charts, exports, and chat read those fields rather than recreating treatment.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3703320"/>
            <a:ext cx="82296" cy="12344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Enhanced senior deduction sits on top of other deductions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compute layer adds a time-limited, income-phased deduction without changing AGI.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Eligibility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years 2025–2028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living person age 65 by year-end may qualify.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Eligibility count is stored as seniorEligible.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4290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Calculation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Per eligible person: max(0, 6,000 − 6% × excess MAGI).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Single/MFJ thresholds are un-indexed but deflated into today’s dollars.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MAGI approximates AGI for this calculation.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429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Tax integration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Applied after the larger of standard or LTC itemized deduction.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Does not reduce AGI.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Marginal/SST calculation includes its phase-out behavior.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Row reports seniorDeduction.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Excess household income can be reinvested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Reinvestment is optional, portfolio-specific, and happens only after the annual tax-and-expense solve converges.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331720" cy="137160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Condition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excessIncome = max(0, cashIncome − expTotal)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Only when cash income already covered every expense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137160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234440"/>
            <a:ext cx="2331720" cy="137160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Eligible targets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Live, in-range brokerage portfolios with Reinvest excess income checked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IDGT eligible if checked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1234440"/>
            <a:ext cx="82296" cy="137160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89320" y="1234440"/>
            <a:ext cx="2331720" cy="137160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Allocation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Split pro rata by start-of-year balance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No eligible target → excess leaves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34440"/>
            <a:ext cx="82296" cy="137160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32520" y="1234440"/>
            <a:ext cx="2331720" cy="137160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Roll forward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Adds excessIn to balance and basis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Never feeds back into same-year tax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32520" y="1234440"/>
            <a:ext cx="82296" cy="137160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880360" y="1920240"/>
            <a:ext cx="256031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623560" y="1920240"/>
            <a:ext cx="256032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366760" y="1920240"/>
            <a:ext cx="256032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234440" y="3886200"/>
            <a:ext cx="9646920" cy="10972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Visibility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 rows report excessIncome and excessReinvested; portfolio entries record excessReinvested and reinvest. Asset tooltips, expense chart details, Excel, and chat all consume these outputs.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4440" y="3886200"/>
            <a:ext cx="82296" cy="10972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Roth conversion timing becomes a three-mode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IRA card separates “whether to convert” from “when conversions begin.”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24612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RMD start — default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Conversion begins at the IRA’s resolved Start age.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Default aligns the start with the account’s RMD-oriented age-range rule.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62272" y="1234440"/>
            <a:ext cx="324612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Now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Conversion begins at current age.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Effective start still cannot precede current 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84464" y="1234440"/>
            <a:ext cx="324612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Custom 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Shows paired slider + number input only when selected.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Effective start is max(current age, custom age).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Migration preserves old plans: existing conversion behavior maps to custom or now.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4464" y="123444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Post-passing legacy tail and display-only value haircuts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main Asset chart can continue selected assets for ten legacy years and show an after-tax-value approximation without changing projection finance.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743200" cy="461772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Stretch rows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10 pseudo-years after final passing.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Selected IRA/Roth accounts compound for heirs.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Continuing non-IDGT brokerage also compounds.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expenses, withdrawals, or heir taxes.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IDGT bands end with real projection 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82296" cy="461772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097280"/>
            <a:ext cx="2743200" cy="461772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Basis and brokerage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Non-IDGT basis steps up to value at passing.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Thereafter basis erodes with inflation while value grows.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Stretch-year unrealized gain is growth since passing.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Cost-basis line can show this relationship.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1097280"/>
            <a:ext cx="82296" cy="461772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37960" y="1097280"/>
            <a:ext cx="2423160" cy="461772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Devalue pair 1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Before last passing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Default: 10% LTCG gain haircut; 10% pre-tax IRA haircut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Saved display-only controls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37960" y="1097280"/>
            <a:ext cx="82296" cy="461772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35440" y="1097280"/>
            <a:ext cx="2423160" cy="461772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Devalue pair 2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Heir years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Default: 24% LTCG gain haircut; 40% pre-tax IRA haircut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Asset-band transformation only; no recompute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097280"/>
            <a:ext cx="82296" cy="461772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Display changes are row-driven and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New outputs are presented in income, asset, expense, export, and chat views without relocating financial logic out of Compute.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33375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Income and tax charts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stack adds rental depreciation and tax-exempt income.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Taxable-SS calculation captures tax-exempt income in provisional income.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tooltips use the applied deduction and tax details from 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16552" y="1143000"/>
            <a:ext cx="333756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Asset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Adds brokerage cost-basis dashed line when meaningful.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Four saved devalue sliders distinguish real years and heir years.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Tooltips disclose face value before devalue and reinvested excess.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6552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84464" y="1143000"/>
            <a:ext cx="333756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Shared consumers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Expense chart shows excess reinvestment when material.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Excel adds rental, tax-exempt, senior-deduction, and legacy-tail fields.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Chat snapshot expands only through explicit selected columns.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4464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State migration preserves older plans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hydrateState() remains the compatibility boundary between saved plan formats and the current canonical schema.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7432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Legacy rental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Old single rental object becomes rentals[0] only when it carried meaningful income, depreciation, or enablement.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New plans use an array of property sub-cards.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143000"/>
            <a:ext cx="27432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Legacy conversion start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If conversion already existed: old positive start becomes custom; otherwise now.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conversion: new default is RMD start.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37960" y="1143000"/>
            <a:ext cx="27432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Legacy household settings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Existing living, LTC, and UI-hide migrations stay in place.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Missing fields receive canonical defaults; stale fields are dropped.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37960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555480" y="1143000"/>
            <a:ext cx="210312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Guarantee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Hydrate before compute.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Projection and views always see the current schema.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the expanded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latest features add scope, but preserve the architectural contracts that keep the planner understandable and testable.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 &amp; inputs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 canonical arrays for repeatable items such as rental properties.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unit and null semantics explicit.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Migrate legacy saves at hydration time, never in chart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Compute &amp; rows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tax, cash-flow, and legacy-tail rules in projection.js.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Solve circular tax-and-sale dependencies explicitly.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Expose every new derived result in the projection-row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18872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Display &amp; user trust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Charts, Excel, Formula pages, and chat read outputs; they do not recreate finance.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Clearly label display-only devalue assumptions.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chat data curated, previewable, and outside saved plan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Rental, tax-exempt income, and legacy-value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