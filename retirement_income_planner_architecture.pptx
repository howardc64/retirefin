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Retirement Income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424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D2E1F0"/>
                </a:solidFill>
                <a:latin typeface="Aptos"/>
              </a:defRPr>
            </a:pPr>
            <a:r>
              <a:t>Software architecture and data-flow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37560" cy="2743200"/>
          </a:xfrm>
          <a:prstGeom prst="roundRect">
            <a:avLst/>
          </a:prstGeom>
          <a:solidFill>
            <a:srgbClr val="E9F4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2000" b="1">
                <a:solidFill>
                  <a:srgbClr val="232D37"/>
                </a:solidFill>
                <a:latin typeface="Aptos Display"/>
              </a:defRPr>
            </a:pPr>
            <a:r>
              <a:t>Input layer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Household &amp; assumptions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Income-source cards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Shared controls write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337560" cy="2743200"/>
          </a:xfrm>
          <a:prstGeom prst="roundRect">
            <a:avLst/>
          </a:prstGeom>
          <a:solidFill>
            <a:srgbClr val="EAF9F4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2000" b="1">
                <a:solidFill>
                  <a:srgbClr val="232D37"/>
                </a:solidFill>
                <a:latin typeface="Aptos Display"/>
              </a:defRPr>
            </a:pPr>
            <a:r>
              <a:t>Compute layer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Pure financial calculations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Year-by-year projection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What-if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737360"/>
            <a:ext cx="82296" cy="2743200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737360"/>
            <a:ext cx="3337560" cy="2743200"/>
          </a:xfrm>
          <a:prstGeom prst="roundRect">
            <a:avLst/>
          </a:prstGeom>
          <a:solidFill>
            <a:srgbClr val="F7EFFF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2000" b="1">
                <a:solidFill>
                  <a:srgbClr val="232D37"/>
                </a:solidFill>
                <a:latin typeface="Aptos Display"/>
              </a:defRPr>
            </a:pPr>
            <a:r>
              <a:t>Display layer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Chart.js visualizations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Tooltips &amp; overlays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No financial recalculation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737360"/>
            <a:ext cx="82296" cy="2743200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005072" y="3108960"/>
            <a:ext cx="365760" cy="0"/>
          </a:xfrm>
          <a:prstGeom prst="line">
            <a:avLst/>
          </a:prstGeom>
          <a:ln w="29209">
            <a:solidFill>
              <a:srgbClr val="266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99831" y="3108960"/>
            <a:ext cx="365761" cy="0"/>
          </a:xfrm>
          <a:prstGeom prst="line">
            <a:avLst/>
          </a:prstGeom>
          <a:ln w="29209">
            <a:solidFill>
              <a:srgbClr val="429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22191" y="3364992"/>
            <a:ext cx="749808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66EB2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364992"/>
            <a:ext cx="9601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429761"/>
                </a:solidFill>
                <a:latin typeface="Aptos"/>
              </a:defRPr>
            </a:pPr>
            <a:r>
              <a:t>projection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5074920"/>
            <a:ext cx="836676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Design boundary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Inputs own mutable state; Compute owns derived values; Display consumes projection rows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5074920"/>
            <a:ext cx="82296" cy="713232"/>
          </a:xfrm>
          <a:prstGeom prst="rect">
            <a:avLst/>
          </a:prstGeom>
          <a:solidFill>
            <a:srgbClr val="0F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D6C7A"/>
                </a:solidFill>
                <a:latin typeface="Aptos"/>
              </a:defRPr>
            </a:pPr>
            <a:r>
              <a:t>Retirement Income Planner •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647"/>
                </a:solidFill>
                <a:latin typeface="Aptos Display"/>
              </a:defRPr>
            </a:pPr>
            <a:r>
              <a:t>End-to-end runtime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  <a:latin typeface="Aptos"/>
              </a:defRPr>
            </a:pPr>
            <a:r>
              <a:t>A change in any field follows one predictable path through the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48840" cy="1143000"/>
          </a:xfrm>
          <a:prstGeom prst="roundRect">
            <a:avLst/>
          </a:prstGeom>
          <a:solidFill>
            <a:srgbClr val="E9F4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1. User input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Field, slider, toggle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82296" cy="114300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1417320"/>
            <a:ext cx="2148840" cy="114300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2. State update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setPath() + autosave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417320"/>
            <a:ext cx="82296" cy="114300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40680" y="1417320"/>
            <a:ext cx="2148840" cy="1143000"/>
          </a:xfrm>
          <a:prstGeom prst="roundRect">
            <a:avLst/>
          </a:prstGeom>
          <a:solidFill>
            <a:srgbClr val="EAF9F4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3. Recompute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computeProjection()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80" y="1417320"/>
            <a:ext cx="82296" cy="1143000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2148840" cy="1143000"/>
          </a:xfrm>
          <a:prstGeom prst="roundRect">
            <a:avLst/>
          </a:prstGeom>
          <a:solidFill>
            <a:srgbClr val="F7EFFF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4. Render charts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renderCharts()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417320"/>
            <a:ext cx="82296" cy="1143000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78440" y="1417320"/>
            <a:ext cx="1280160" cy="1143000"/>
          </a:xfrm>
          <a:prstGeom prst="roundRect">
            <a:avLst/>
          </a:prstGeom>
          <a:solidFill>
            <a:srgbClr val="FFF6E8"/>
          </a:solidFill>
          <a:ln w="15240">
            <a:solidFill>
              <a:srgbClr val="E5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5. View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Updated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78440" y="1417320"/>
            <a:ext cx="82296" cy="1143000"/>
          </a:xfrm>
          <a:prstGeom prst="rect">
            <a:avLst/>
          </a:prstGeom>
          <a:solidFill>
            <a:srgbClr val="E5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670048" y="1993392"/>
            <a:ext cx="237744" cy="0"/>
          </a:xfrm>
          <a:prstGeom prst="line">
            <a:avLst/>
          </a:prstGeom>
          <a:ln w="29209">
            <a:solidFill>
              <a:srgbClr val="266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38928" y="1993392"/>
            <a:ext cx="237744" cy="0"/>
          </a:xfrm>
          <a:prstGeom prst="line">
            <a:avLst/>
          </a:prstGeom>
          <a:ln w="29209">
            <a:solidFill>
              <a:srgbClr val="266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7808" y="1993392"/>
            <a:ext cx="237744" cy="0"/>
          </a:xfrm>
          <a:prstGeom prst="line">
            <a:avLst/>
          </a:prstGeom>
          <a:ln w="29209">
            <a:solidFill>
              <a:srgbClr val="429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76688" y="1993392"/>
            <a:ext cx="237744" cy="0"/>
          </a:xfrm>
          <a:prstGeom prst="line">
            <a:avLst/>
          </a:prstGeom>
          <a:ln w="29209">
            <a:solidFill>
              <a:srgbClr val="785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3200400"/>
            <a:ext cx="4434840" cy="141732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700" b="1">
                <a:solidFill>
                  <a:srgbClr val="232D37"/>
                </a:solidFill>
                <a:latin typeface="Aptos Display"/>
              </a:defRPr>
            </a:pPr>
            <a:r>
              <a:t>Input contract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Every editable control routes through onFieldInput() or onNumberInput().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Input files render DOM but do not perform financial modeling.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00400"/>
            <a:ext cx="82296" cy="141732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0840" y="3200400"/>
            <a:ext cx="4434840" cy="141732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700" b="1">
                <a:solidFill>
                  <a:srgbClr val="232D37"/>
                </a:solidFill>
                <a:latin typeface="Aptos Display"/>
              </a:defRPr>
            </a:pPr>
            <a:r>
              <a:t>Rendering contract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app.js is the sole meeting point between Compute and Display.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Chart instances update in place for smooth animation.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3200400"/>
            <a:ext cx="82296" cy="1417320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413248" y="3904487"/>
            <a:ext cx="1234440" cy="0"/>
          </a:xfrm>
          <a:prstGeom prst="line">
            <a:avLst/>
          </a:prstGeom>
          <a:ln w="29209">
            <a:solidFill>
              <a:srgbClr val="0F2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68112" y="4069080"/>
            <a:ext cx="111556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0F2647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5230368"/>
            <a:ext cx="731520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500" b="1">
                <a:solidFill>
                  <a:srgbClr val="232D37"/>
                </a:solidFill>
                <a:latin typeface="Aptos Display"/>
              </a:defRPr>
            </a:pPr>
            <a:r>
              <a:t>Debounced interaction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Typing and sliders use 80 ms recompute / 500 ms save wrappers; discrete actions recompute immediately.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5230368"/>
            <a:ext cx="82296" cy="594360"/>
          </a:xfrm>
          <a:prstGeom prst="rect">
            <a:avLst/>
          </a:prstGeom>
          <a:solidFill>
            <a:srgbClr val="168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D6C7A"/>
                </a:solidFill>
                <a:latin typeface="Aptos"/>
              </a:defRPr>
            </a:pPr>
            <a:r>
              <a:t>Retirement Income Planner • Architecture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647"/>
                </a:solidFill>
                <a:latin typeface="Aptos Display"/>
              </a:defRPr>
            </a:pPr>
            <a:r>
              <a:t>State is the input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  <a:latin typeface="Aptos"/>
              </a:defRPr>
            </a:pPr>
            <a:r>
              <a:t>js/core/state.js defines the only mutable source of truth.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88920" cy="4526280"/>
          </a:xfrm>
          <a:prstGeom prst="roundRect">
            <a:avLst/>
          </a:prstGeom>
          <a:solidFill>
            <a:srgbClr val="E9F4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800" b="1">
                <a:solidFill>
                  <a:srgbClr val="232D37"/>
                </a:solidFill>
                <a:latin typeface="Aptos Display"/>
              </a:defRPr>
            </a:pPr>
            <a:r>
              <a:t>State root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filingStatus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inflation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people[0..1]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passing ages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scgl pool</a:t>
            </a:r>
          </a:p>
          <a:p>
            <a:pPr>
              <a:spcBef>
                <a:spcPts val="4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futureTax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82296" cy="452628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22191" y="1234440"/>
            <a:ext cx="3520440" cy="1920240"/>
          </a:xfrm>
          <a:prstGeom prst="roundRect">
            <a:avLst/>
          </a:prstGeom>
          <a:solidFill>
            <a:srgbClr val="EAF9F4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800" b="1">
                <a:solidFill>
                  <a:srgbClr val="232D37"/>
                </a:solidFill>
                <a:latin typeface="Aptos Display"/>
              </a:defRPr>
            </a:pPr>
            <a:r>
              <a:t>Person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Identity &amp; birth date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Wage, Social Security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Pension, rental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Brokerage portfolios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IRA and Roth 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234440"/>
            <a:ext cx="82296" cy="1920240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22191" y="3520440"/>
            <a:ext cx="3520440" cy="2240280"/>
          </a:xfrm>
          <a:prstGeom prst="roundRect">
            <a:avLst/>
          </a:prstGeom>
          <a:solidFill>
            <a:srgbClr val="FFF6E8"/>
          </a:solidFill>
          <a:ln w="15240">
            <a:solidFill>
              <a:srgbClr val="E5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800" b="1">
                <a:solidFill>
                  <a:srgbClr val="232D37"/>
                </a:solidFill>
                <a:latin typeface="Aptos Display"/>
              </a:defRPr>
            </a:pPr>
            <a:r>
              <a:t>Reusable schemas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AgeRange: now/custom/RMD → custom/passing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Change: fixed/inflation/offset/custom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Brokerage portfolio: balance, yield, expenses, tax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22191" y="3520440"/>
            <a:ext cx="82296" cy="2240280"/>
          </a:xfrm>
          <a:prstGeom prst="rect">
            <a:avLst/>
          </a:prstGeom>
          <a:solidFill>
            <a:srgbClr val="E5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90688" y="1234440"/>
            <a:ext cx="3794760" cy="4526280"/>
          </a:xfrm>
          <a:prstGeom prst="roundRect">
            <a:avLst/>
          </a:prstGeom>
          <a:solidFill>
            <a:srgbClr val="F7EFFF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800" b="1">
                <a:solidFill>
                  <a:srgbClr val="232D37"/>
                </a:solidFill>
                <a:latin typeface="Aptos Display"/>
              </a:defRPr>
            </a:pPr>
            <a:r>
              <a:t>State services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defaultState() establishes canonical defaults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hydrateState() merges saved plans safely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autosave() / loadAutosave() use browser storage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setPath() provides dot-path mutation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save/import/reset manage full plan lifecycle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0688" y="1234440"/>
            <a:ext cx="82296" cy="4526280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447288" y="2148840"/>
            <a:ext cx="283464" cy="0"/>
          </a:xfrm>
          <a:prstGeom prst="line">
            <a:avLst/>
          </a:prstGeom>
          <a:ln w="29209">
            <a:solidFill>
              <a:srgbClr val="266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2926080"/>
            <a:ext cx="292608" cy="0"/>
          </a:xfrm>
          <a:prstGeom prst="line">
            <a:avLst/>
          </a:prstGeom>
          <a:ln w="29209">
            <a:solidFill>
              <a:srgbClr val="168F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943600"/>
            <a:ext cx="10881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0F2647"/>
                </a:solidFill>
                <a:latin typeface="Aptos"/>
              </a:defRPr>
            </a:pPr>
            <a:r>
              <a:t>Rule: Input components read values from state; they never invent their own fallback defaults.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D6C7A"/>
                </a:solidFill>
                <a:latin typeface="Aptos"/>
              </a:defRPr>
            </a:pPr>
            <a:r>
              <a:t>Retirement Income Planner • Architecture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647"/>
                </a:solidFill>
                <a:latin typeface="Aptos Display"/>
              </a:defRPr>
            </a:pPr>
            <a:r>
              <a:t>Compute pipeline: one projection row per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  <a:latin typeface="Aptos"/>
              </a:defRPr>
            </a:pPr>
            <a:r>
              <a:t>The calculation layer is DOM-free and turns current inputs into a consistent, annual financial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572768" cy="2880360"/>
          </a:xfrm>
          <a:prstGeom prst="roundRect">
            <a:avLst/>
          </a:prstGeom>
          <a:solidFill>
            <a:srgbClr val="F9FBFD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1. Life &amp; ages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Living people, ages, filing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82296" cy="288036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23160" y="1417320"/>
            <a:ext cx="1572768" cy="2880360"/>
          </a:xfrm>
          <a:prstGeom prst="roundRect">
            <a:avLst/>
          </a:prstGeom>
          <a:solidFill>
            <a:srgbClr val="F9FBFD"/>
          </a:solidFill>
          <a:ln w="15240"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2. Income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Wages, SS, pension, rental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417320"/>
            <a:ext cx="82296" cy="2880360"/>
          </a:xfrm>
          <a:prstGeom prst="rect">
            <a:avLst/>
          </a:prstGeom>
          <a:solidFill>
            <a:srgbClr val="168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1572768" cy="2880360"/>
          </a:xfrm>
          <a:prstGeom prst="roundRect">
            <a:avLst/>
          </a:prstGeom>
          <a:solidFill>
            <a:srgbClr val="F9FBFD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3. Portfolio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Dividends, gains, foreign-tax credit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82296" cy="2880360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1572768" cy="2880360"/>
          </a:xfrm>
          <a:prstGeom prst="roundRect">
            <a:avLst/>
          </a:prstGeom>
          <a:solidFill>
            <a:srgbClr val="F9FBFD"/>
          </a:solidFill>
          <a:ln w="15240">
            <a:solidFill>
              <a:srgbClr val="E5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4. Retirement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RMDs, IRA withdrawals, Roth conversions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82296" cy="2880360"/>
          </a:xfrm>
          <a:prstGeom prst="rect">
            <a:avLst/>
          </a:prstGeom>
          <a:solidFill>
            <a:srgbClr val="E5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1572768" cy="2880360"/>
          </a:xfrm>
          <a:prstGeom prst="roundRect">
            <a:avLst/>
          </a:prstGeom>
          <a:solidFill>
            <a:srgbClr val="F9FBFD"/>
          </a:solidFill>
          <a:ln w="15240">
            <a:solidFill>
              <a:srgbClr val="BF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5. Tax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Taxable SS, AGI, brackets, NIIT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82296" cy="2880360"/>
          </a:xfrm>
          <a:prstGeom prst="rect">
            <a:avLst/>
          </a:prstGeom>
          <a:solidFill>
            <a:srgbClr val="B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04120" y="1417320"/>
            <a:ext cx="1572768" cy="2880360"/>
          </a:xfrm>
          <a:prstGeom prst="roundRect">
            <a:avLst/>
          </a:prstGeom>
          <a:solidFill>
            <a:srgbClr val="F9FBFD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6. Balances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Growth, drag, fees, withdrawals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04120" y="1417320"/>
            <a:ext cx="82296" cy="2880360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093976" y="2816352"/>
            <a:ext cx="283464" cy="0"/>
          </a:xfrm>
          <a:prstGeom prst="line">
            <a:avLst/>
          </a:prstGeom>
          <a:ln w="29209">
            <a:solidFill>
              <a:srgbClr val="266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14215" y="2816352"/>
            <a:ext cx="283465" cy="0"/>
          </a:xfrm>
          <a:prstGeom prst="line">
            <a:avLst/>
          </a:prstGeom>
          <a:ln w="29209">
            <a:solidFill>
              <a:srgbClr val="168F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34456" y="2816352"/>
            <a:ext cx="283464" cy="0"/>
          </a:xfrm>
          <a:prstGeom prst="line">
            <a:avLst/>
          </a:prstGeom>
          <a:ln w="29209">
            <a:solidFill>
              <a:srgbClr val="429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54696" y="2816352"/>
            <a:ext cx="283463" cy="0"/>
          </a:xfrm>
          <a:prstGeom prst="line">
            <a:avLst/>
          </a:prstGeom>
          <a:ln w="29209">
            <a:solidFill>
              <a:srgbClr val="E58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74936" y="2816352"/>
            <a:ext cx="283464" cy="0"/>
          </a:xfrm>
          <a:prstGeom prst="line">
            <a:avLst/>
          </a:prstGeom>
          <a:ln w="29209">
            <a:solidFill>
              <a:srgbClr val="BF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3232" y="4709160"/>
            <a:ext cx="10789920" cy="100584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700" b="1">
                <a:solidFill>
                  <a:srgbClr val="232D37"/>
                </a:solidFill>
                <a:latin typeface="Aptos Display"/>
              </a:defRPr>
            </a:pPr>
            <a:r>
              <a:t>Projection output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Each row carries ages/alive status, income components, tax detail, portfolio/account balances, marginal rate, and final total tax — all in today’s dollars.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709160"/>
            <a:ext cx="82296" cy="1005840"/>
          </a:xfrm>
          <a:prstGeom prst="rect">
            <a:avLst/>
          </a:prstGeom>
          <a:solidFill>
            <a:srgbClr val="0F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106984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F2647"/>
                </a:solidFill>
                <a:latin typeface="Aptos"/>
              </a:defRPr>
            </a:pPr>
            <a:r>
              <a:t>computeProjection() is the sole producer of derived financial values.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D6C7A"/>
                </a:solidFill>
                <a:latin typeface="Aptos"/>
              </a:defRPr>
            </a:pPr>
            <a:r>
              <a:t>Retirement Income Planner • Architecture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647"/>
                </a:solidFill>
                <a:latin typeface="Aptos Display"/>
              </a:defRPr>
            </a:pPr>
            <a:r>
              <a:t>Calculation services and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  <a:latin typeface="Aptos"/>
              </a:defRPr>
            </a:pPr>
            <a:r>
              <a:t>Small focused functions support the projection engine; their dependency order is explicit.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42316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Constants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Tax brackets, deductions, IRMAA, RMD table, date anchors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82296" cy="1005840"/>
          </a:xfrm>
          <a:prstGeom prst="rect">
            <a:avLst/>
          </a:prstGeom>
          <a:solidFill>
            <a:srgbClr val="0F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42316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Helpers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Formatting, clamps, IDs, safe escaping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82296" cy="1005840"/>
          </a:xfrm>
          <a:prstGeom prst="rect">
            <a:avLst/>
          </a:prstGeom>
          <a:solidFill>
            <a:srgbClr val="0F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960120"/>
            <a:ext cx="2514600" cy="960120"/>
          </a:xfrm>
          <a:prstGeom prst="roundRect">
            <a:avLst/>
          </a:prstGeom>
          <a:solidFill>
            <a:srgbClr val="E9F4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SS calculator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FRA and claiming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960120"/>
            <a:ext cx="82296" cy="96012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240280"/>
            <a:ext cx="2514600" cy="960120"/>
          </a:xfrm>
          <a:prstGeom prst="roundRect">
            <a:avLst/>
          </a:prstGeom>
          <a:solidFill>
            <a:srgbClr val="EAF9F4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RMD service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Start age and divisor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240280"/>
            <a:ext cx="82296" cy="960120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3520440"/>
            <a:ext cx="2514600" cy="960120"/>
          </a:xfrm>
          <a:prstGeom prst="roundRect">
            <a:avLst/>
          </a:prstGeom>
          <a:solidFill>
            <a:srgbClr val="FFF6E8"/>
          </a:solidFill>
          <a:ln w="15240">
            <a:solidFill>
              <a:srgbClr val="E5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Tax service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Ordinary, qualified, SS, NIIT, marginal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520440"/>
            <a:ext cx="82296" cy="960120"/>
          </a:xfrm>
          <a:prstGeom prst="rect">
            <a:avLst/>
          </a:prstGeom>
          <a:solidFill>
            <a:srgbClr val="E5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03720" y="960120"/>
            <a:ext cx="2514600" cy="96012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Dates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Current age &amp; older-person axis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960120"/>
            <a:ext cx="82296" cy="960120"/>
          </a:xfrm>
          <a:prstGeom prst="rect">
            <a:avLst/>
          </a:prstGeom>
          <a:solidFill>
            <a:srgbClr val="168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2514600" cy="960120"/>
          </a:xfrm>
          <a:prstGeom prst="roundRect">
            <a:avLst/>
          </a:prstGeom>
          <a:solidFill>
            <a:srgbClr val="EFF7FF"/>
          </a:solidFill>
          <a:ln w="15240"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Age ranges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Resolve now/custom/RMD and custom/passing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40280"/>
            <a:ext cx="82296" cy="960120"/>
          </a:xfrm>
          <a:prstGeom prst="rect">
            <a:avLst/>
          </a:prstGeom>
          <a:solidFill>
            <a:srgbClr val="168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0" y="1874519"/>
            <a:ext cx="1691640" cy="1828800"/>
          </a:xfrm>
          <a:prstGeom prst="roundRect">
            <a:avLst/>
          </a:prstGeom>
          <a:solidFill>
            <a:srgbClr val="F7EFFF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Projection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Composes all services into annual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1874519"/>
            <a:ext cx="82296" cy="1828800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3108960" y="1463040"/>
            <a:ext cx="475488" cy="320040"/>
          </a:xfrm>
          <a:prstGeom prst="line">
            <a:avLst/>
          </a:prstGeom>
          <a:ln w="19050">
            <a:solidFill>
              <a:srgbClr val="5D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108960" y="2724912"/>
            <a:ext cx="475488" cy="521208"/>
          </a:xfrm>
          <a:prstGeom prst="line">
            <a:avLst/>
          </a:prstGeom>
          <a:ln w="19050">
            <a:solidFill>
              <a:srgbClr val="5D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08960" y="3246120"/>
            <a:ext cx="475488" cy="758952"/>
          </a:xfrm>
          <a:prstGeom prst="line">
            <a:avLst/>
          </a:prstGeom>
          <a:ln w="19050">
            <a:solidFill>
              <a:srgbClr val="5D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36208" y="1444752"/>
            <a:ext cx="594360" cy="950976"/>
          </a:xfrm>
          <a:prstGeom prst="line">
            <a:avLst/>
          </a:prstGeom>
          <a:ln w="19050">
            <a:solidFill>
              <a:srgbClr val="5D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236208" y="2697480"/>
            <a:ext cx="594360" cy="45720"/>
          </a:xfrm>
          <a:prstGeom prst="line">
            <a:avLst/>
          </a:prstGeom>
          <a:ln w="19050">
            <a:solidFill>
              <a:srgbClr val="5D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82328" y="1444752"/>
            <a:ext cx="320040" cy="1024128"/>
          </a:xfrm>
          <a:prstGeom prst="line">
            <a:avLst/>
          </a:prstGeom>
          <a:ln w="19050">
            <a:solidFill>
              <a:srgbClr val="5D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82328" y="2724912"/>
            <a:ext cx="320040" cy="18288"/>
          </a:xfrm>
          <a:prstGeom prst="line">
            <a:avLst/>
          </a:prstGeom>
          <a:ln w="19050">
            <a:solidFill>
              <a:srgbClr val="5D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482328" y="3090672"/>
            <a:ext cx="320040" cy="914400"/>
          </a:xfrm>
          <a:prstGeom prst="line">
            <a:avLst/>
          </a:prstGeom>
          <a:ln w="19050">
            <a:solidFill>
              <a:srgbClr val="5D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463040" y="5166360"/>
            <a:ext cx="914400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500" b="1">
                <a:solidFill>
                  <a:srgbClr val="232D37"/>
                </a:solidFill>
                <a:latin typeface="Aptos Display"/>
              </a:defRPr>
            </a:pPr>
            <a:r>
              <a:t>Scenario analysis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whatIf.js temporarily clones state and reruns the same projection engine for Social Security claiming-age comparisons.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5166360"/>
            <a:ext cx="82296" cy="658368"/>
          </a:xfrm>
          <a:prstGeom prst="rect">
            <a:avLst/>
          </a:prstGeom>
          <a:solidFill>
            <a:srgbClr val="168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D6C7A"/>
                </a:solidFill>
                <a:latin typeface="Aptos"/>
              </a:defRPr>
            </a:pPr>
            <a:r>
              <a:t>Retirement Income Planner • Architecture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647"/>
                </a:solidFill>
                <a:latin typeface="Aptos Display"/>
              </a:defRPr>
            </a:pPr>
            <a:r>
              <a:t>Display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  <a:latin typeface="Aptos"/>
              </a:defRPr>
            </a:pPr>
            <a:r>
              <a:t>Charts are projection consumers: they read rows, apply presentation conventions, and never recalculate financial logic.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423160" cy="4251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700" b="1">
                <a:solidFill>
                  <a:srgbClr val="232D37"/>
                </a:solidFill>
                <a:latin typeface="Aptos Display"/>
              </a:defRPr>
            </a:pPr>
            <a:r>
              <a:t>Shared display services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chartHelpers.js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Locked scales &amp; rescale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Age-axis conventions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Live tooltip settings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In-place chart updates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overlayPlugin.js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Bracket &amp; IRMAA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82296" cy="4251960"/>
          </a:xfrm>
          <a:prstGeom prst="rect">
            <a:avLst/>
          </a:prstGeom>
          <a:solidFill>
            <a:srgbClr val="0F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1234440"/>
            <a:ext cx="3108960" cy="658368"/>
          </a:xfrm>
          <a:prstGeom prst="roundRect">
            <a:avLst/>
          </a:prstGeom>
          <a:solidFill>
            <a:srgbClr val="FAFBFD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SS breakeven</a:t>
            </a:r>
          </a:p>
          <a:p>
            <a:pPr>
              <a:spcBef>
                <a:spcPts val="400"/>
              </a:spcBef>
              <a:defRPr sz="1000">
                <a:solidFill>
                  <a:srgbClr val="232D37"/>
                </a:solidFill>
                <a:latin typeface="Aptos"/>
              </a:defRPr>
            </a:pPr>
            <a:r>
              <a:t>Claim-age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234440"/>
            <a:ext cx="82296" cy="658368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013448" y="1563624"/>
            <a:ext cx="557783" cy="0"/>
          </a:xfrm>
          <a:prstGeom prst="line">
            <a:avLst/>
          </a:prstGeom>
          <a:ln w="22860">
            <a:solidFill>
              <a:srgbClr val="266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35240" y="1234440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200" b="1">
                <a:solidFill>
                  <a:srgbClr val="232D37"/>
                </a:solidFill>
                <a:latin typeface="Aptos Display"/>
              </a:defRPr>
            </a:pPr>
            <a:r>
              <a:t>Consumes projection fields</a:t>
            </a:r>
          </a:p>
          <a:p>
            <a:pPr>
              <a:spcBef>
                <a:spcPts val="400"/>
              </a:spcBef>
              <a:defRPr sz="900">
                <a:solidFill>
                  <a:srgbClr val="232D37"/>
                </a:solidFill>
                <a:latin typeface="Aptos"/>
              </a:defRPr>
            </a:pPr>
            <a:r>
              <a:t>Rows → datasets, labels, tooltips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234440"/>
            <a:ext cx="82296" cy="658368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0" y="2194560"/>
            <a:ext cx="3108960" cy="658368"/>
          </a:xfrm>
          <a:prstGeom prst="roundRect">
            <a:avLst/>
          </a:prstGeom>
          <a:solidFill>
            <a:srgbClr val="FAFBFD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Income</a:t>
            </a:r>
          </a:p>
          <a:p>
            <a:pPr>
              <a:spcBef>
                <a:spcPts val="400"/>
              </a:spcBef>
              <a:defRPr sz="1000">
                <a:solidFill>
                  <a:srgbClr val="232D37"/>
                </a:solidFill>
                <a:latin typeface="Aptos"/>
              </a:defRPr>
            </a:pPr>
            <a:r>
              <a:t>Stacked annual income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194560"/>
            <a:ext cx="82296" cy="658368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013448" y="2523744"/>
            <a:ext cx="557783" cy="0"/>
          </a:xfrm>
          <a:prstGeom prst="line">
            <a:avLst/>
          </a:prstGeom>
          <a:ln w="22860">
            <a:solidFill>
              <a:srgbClr val="429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35240" y="2194560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200" b="1">
                <a:solidFill>
                  <a:srgbClr val="232D37"/>
                </a:solidFill>
                <a:latin typeface="Aptos Display"/>
              </a:defRPr>
            </a:pPr>
            <a:r>
              <a:t>Consumes projection fields</a:t>
            </a:r>
          </a:p>
          <a:p>
            <a:pPr>
              <a:spcBef>
                <a:spcPts val="400"/>
              </a:spcBef>
              <a:defRPr sz="900">
                <a:solidFill>
                  <a:srgbClr val="232D37"/>
                </a:solidFill>
                <a:latin typeface="Aptos"/>
              </a:defRPr>
            </a:pPr>
            <a:r>
              <a:t>Rows → datasets, labels, tooltips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194560"/>
            <a:ext cx="82296" cy="658368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0" y="3154680"/>
            <a:ext cx="3108960" cy="658368"/>
          </a:xfrm>
          <a:prstGeom prst="roundRect">
            <a:avLst/>
          </a:prstGeom>
          <a:solidFill>
            <a:srgbClr val="FAFBFD"/>
          </a:solidFill>
          <a:ln w="15240">
            <a:solidFill>
              <a:srgbClr val="E5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Taxable SS</a:t>
            </a:r>
          </a:p>
          <a:p>
            <a:pPr>
              <a:spcBef>
                <a:spcPts val="400"/>
              </a:spcBef>
              <a:defRPr sz="1000">
                <a:solidFill>
                  <a:srgbClr val="232D37"/>
                </a:solidFill>
                <a:latin typeface="Aptos"/>
              </a:defRPr>
            </a:pPr>
            <a:r>
              <a:t>TSS / SST / marginal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154680"/>
            <a:ext cx="82296" cy="658368"/>
          </a:xfrm>
          <a:prstGeom prst="rect">
            <a:avLst/>
          </a:prstGeom>
          <a:solidFill>
            <a:srgbClr val="E5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013448" y="3483864"/>
            <a:ext cx="557783" cy="0"/>
          </a:xfrm>
          <a:prstGeom prst="line">
            <a:avLst/>
          </a:prstGeom>
          <a:ln w="22860">
            <a:solidFill>
              <a:srgbClr val="E58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35240" y="3154680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200" b="1">
                <a:solidFill>
                  <a:srgbClr val="232D37"/>
                </a:solidFill>
                <a:latin typeface="Aptos Display"/>
              </a:defRPr>
            </a:pPr>
            <a:r>
              <a:t>Consumes projection fields</a:t>
            </a:r>
          </a:p>
          <a:p>
            <a:pPr>
              <a:spcBef>
                <a:spcPts val="400"/>
              </a:spcBef>
              <a:defRPr sz="900">
                <a:solidFill>
                  <a:srgbClr val="232D37"/>
                </a:solidFill>
                <a:latin typeface="Aptos"/>
              </a:defRPr>
            </a:pPr>
            <a:r>
              <a:t>Rows → datasets, labels, tooltips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154680"/>
            <a:ext cx="82296" cy="658368"/>
          </a:xfrm>
          <a:prstGeom prst="rect">
            <a:avLst/>
          </a:prstGeom>
          <a:solidFill>
            <a:srgbClr val="E5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0480" y="4114800"/>
            <a:ext cx="3108960" cy="658368"/>
          </a:xfrm>
          <a:prstGeom prst="roundRect">
            <a:avLst/>
          </a:prstGeom>
          <a:solidFill>
            <a:srgbClr val="FAFBFD"/>
          </a:solidFill>
          <a:ln w="15240">
            <a:solidFill>
              <a:srgbClr val="BF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Tax</a:t>
            </a:r>
          </a:p>
          <a:p>
            <a:pPr>
              <a:spcBef>
                <a:spcPts val="400"/>
              </a:spcBef>
              <a:defRPr sz="1000">
                <a:solidFill>
                  <a:srgbClr val="232D37"/>
                </a:solidFill>
                <a:latin typeface="Aptos"/>
              </a:defRPr>
            </a:pPr>
            <a:r>
              <a:t>Stacked tax + rates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4114800"/>
            <a:ext cx="82296" cy="658368"/>
          </a:xfrm>
          <a:prstGeom prst="rect">
            <a:avLst/>
          </a:prstGeom>
          <a:solidFill>
            <a:srgbClr val="B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13448" y="4443984"/>
            <a:ext cx="557783" cy="0"/>
          </a:xfrm>
          <a:prstGeom prst="line">
            <a:avLst/>
          </a:prstGeom>
          <a:ln w="22860">
            <a:solidFill>
              <a:srgbClr val="BF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35240" y="4114800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200" b="1">
                <a:solidFill>
                  <a:srgbClr val="232D37"/>
                </a:solidFill>
                <a:latin typeface="Aptos Display"/>
              </a:defRPr>
            </a:pPr>
            <a:r>
              <a:t>Consumes projection fields</a:t>
            </a:r>
          </a:p>
          <a:p>
            <a:pPr>
              <a:spcBef>
                <a:spcPts val="400"/>
              </a:spcBef>
              <a:defRPr sz="900">
                <a:solidFill>
                  <a:srgbClr val="232D37"/>
                </a:solidFill>
                <a:latin typeface="Aptos"/>
              </a:defRPr>
            </a:pPr>
            <a:r>
              <a:t>Rows → datasets, labels, tooltips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4114800"/>
            <a:ext cx="82296" cy="658368"/>
          </a:xfrm>
          <a:prstGeom prst="rect">
            <a:avLst/>
          </a:prstGeom>
          <a:solidFill>
            <a:srgbClr val="B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0" y="5074920"/>
            <a:ext cx="3108960" cy="658368"/>
          </a:xfrm>
          <a:prstGeom prst="roundRect">
            <a:avLst/>
          </a:prstGeom>
          <a:solidFill>
            <a:srgbClr val="FAFBFD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Assets</a:t>
            </a:r>
          </a:p>
          <a:p>
            <a:pPr>
              <a:spcBef>
                <a:spcPts val="400"/>
              </a:spcBef>
              <a:defRPr sz="1000">
                <a:solidFill>
                  <a:srgbClr val="232D37"/>
                </a:solidFill>
                <a:latin typeface="Aptos"/>
              </a:defRPr>
            </a:pPr>
            <a:r>
              <a:t>Portfolio &amp; account balances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5074920"/>
            <a:ext cx="82296" cy="658368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013448" y="5404104"/>
            <a:ext cx="557783" cy="0"/>
          </a:xfrm>
          <a:prstGeom prst="line">
            <a:avLst/>
          </a:prstGeom>
          <a:ln w="22860">
            <a:solidFill>
              <a:srgbClr val="785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35240" y="5074920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200" b="1">
                <a:solidFill>
                  <a:srgbClr val="232D37"/>
                </a:solidFill>
                <a:latin typeface="Aptos Display"/>
              </a:defRPr>
            </a:pPr>
            <a:r>
              <a:t>Consumes projection fields</a:t>
            </a:r>
          </a:p>
          <a:p>
            <a:pPr>
              <a:spcBef>
                <a:spcPts val="400"/>
              </a:spcBef>
              <a:defRPr sz="900">
                <a:solidFill>
                  <a:srgbClr val="232D37"/>
                </a:solidFill>
                <a:latin typeface="Aptos"/>
              </a:defRPr>
            </a:pPr>
            <a:r>
              <a:t>Rows → datasets, labels, tooltips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5074920"/>
            <a:ext cx="82296" cy="658368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89320"/>
            <a:ext cx="10881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F2647"/>
                </a:solidFill>
                <a:latin typeface="Aptos"/>
              </a:defRPr>
            </a:pPr>
            <a:r>
              <a:t>Key boundary: Display never reads state directly; it receives only the projection contract.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D6C7A"/>
                </a:solidFill>
                <a:latin typeface="Aptos"/>
              </a:defRPr>
            </a:pPr>
            <a:r>
              <a:t>Retirement Income Planner • Architecture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647"/>
                </a:solidFill>
                <a:latin typeface="Aptos Display"/>
              </a:defRPr>
            </a:pPr>
            <a:r>
              <a:t>Deployment and file loading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  <a:latin typeface="Aptos"/>
              </a:defRPr>
            </a:pPr>
            <a:r>
              <a:t>A deliberately simple browser app: plain scripts in one global scope, no build step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4688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800" b="1">
                <a:solidFill>
                  <a:srgbClr val="232D37"/>
                </a:solidFill>
                <a:latin typeface="Aptos Display"/>
              </a:defRPr>
            </a:pPr>
            <a:r>
              <a:t>Entry point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index.html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Two-pane layout: inputs + charts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Script tags loaded in dependency order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Runs via file:// or GitHub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82296" cy="4389120"/>
          </a:xfrm>
          <a:prstGeom prst="rect">
            <a:avLst/>
          </a:prstGeom>
          <a:solidFill>
            <a:srgbClr val="0F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11880" y="1234440"/>
            <a:ext cx="2286000" cy="4389120"/>
          </a:xfrm>
          <a:prstGeom prst="roundRect">
            <a:avLst/>
          </a:prstGeom>
          <a:solidFill>
            <a:srgbClr val="E9F4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800" b="1">
                <a:solidFill>
                  <a:srgbClr val="232D37"/>
                </a:solidFill>
                <a:latin typeface="Aptos Display"/>
              </a:defRPr>
            </a:pPr>
            <a:r>
              <a:t>Core first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constants.js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helpers.js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state.js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Shared data and persistence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234440"/>
            <a:ext cx="82296" cy="438912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2286000" cy="4389120"/>
          </a:xfrm>
          <a:prstGeom prst="roundRect">
            <a:avLst/>
          </a:prstGeom>
          <a:solidFill>
            <a:srgbClr val="EAF9F4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800" b="1">
                <a:solidFill>
                  <a:srgbClr val="232D37"/>
                </a:solidFill>
                <a:latin typeface="Aptos Display"/>
              </a:defRPr>
            </a:pPr>
            <a:r>
              <a:t>Compute next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SS, RMD, tax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dates, age ranges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projection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what-if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82296" cy="4389120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98280" y="1234440"/>
            <a:ext cx="2468880" cy="4389120"/>
          </a:xfrm>
          <a:prstGeom prst="roundRect">
            <a:avLst/>
          </a:prstGeom>
          <a:solidFill>
            <a:srgbClr val="F7EFFF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800" b="1">
                <a:solidFill>
                  <a:srgbClr val="232D37"/>
                </a:solidFill>
                <a:latin typeface="Aptos Display"/>
              </a:defRPr>
            </a:pPr>
            <a:r>
              <a:t>UI last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Input forms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Chart helpers + charts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footer.js</a:t>
            </a:r>
          </a:p>
          <a:p>
            <a:pPr>
              <a:spcBef>
                <a:spcPts val="4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app.js bootstraps DOMContentLoaded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1234440"/>
            <a:ext cx="82296" cy="4389120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36392" y="3429000"/>
            <a:ext cx="402336" cy="0"/>
          </a:xfrm>
          <a:prstGeom prst="line">
            <a:avLst/>
          </a:prstGeom>
          <a:ln w="29209">
            <a:solidFill>
              <a:srgbClr val="266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71032" y="3429000"/>
            <a:ext cx="310896" cy="0"/>
          </a:xfrm>
          <a:prstGeom prst="line">
            <a:avLst/>
          </a:prstGeom>
          <a:ln w="29209">
            <a:solidFill>
              <a:srgbClr val="429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14232" y="3429000"/>
            <a:ext cx="310896" cy="0"/>
          </a:xfrm>
          <a:prstGeom prst="line">
            <a:avLst/>
          </a:prstGeom>
          <a:ln w="29209">
            <a:solidFill>
              <a:srgbClr val="785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71600" y="5879592"/>
            <a:ext cx="9418320" cy="411480"/>
          </a:xfrm>
          <a:prstGeom prst="roundRect">
            <a:avLst/>
          </a:prstGeom>
          <a:solidFill>
            <a:srgbClr val="FFF6E8"/>
          </a:solidFill>
          <a:ln w="15240">
            <a:solidFill>
              <a:srgbClr val="E5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400" b="1">
                <a:solidFill>
                  <a:srgbClr val="232D37"/>
                </a:solidFill>
                <a:latin typeface="Aptos Display"/>
              </a:defRPr>
            </a:pPr>
            <a:r>
              <a:t>Load-order rule</a:t>
            </a:r>
          </a:p>
          <a:p>
            <a:pPr>
              <a:spcBef>
                <a:spcPts val="400"/>
              </a:spcBef>
              <a:defRPr sz="1000">
                <a:solidFill>
                  <a:srgbClr val="232D37"/>
                </a:solidFill>
                <a:latin typeface="Aptos"/>
              </a:defRPr>
            </a:pPr>
            <a:r>
              <a:t>A script may use only names defined by a script loaded before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879592"/>
            <a:ext cx="82296" cy="411480"/>
          </a:xfrm>
          <a:prstGeom prst="rect">
            <a:avLst/>
          </a:prstGeom>
          <a:solidFill>
            <a:srgbClr val="E5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D6C7A"/>
                </a:solidFill>
                <a:latin typeface="Aptos"/>
              </a:defRPr>
            </a:pPr>
            <a:r>
              <a:t>Retirement Income Planner • Architecture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647"/>
                </a:solidFill>
                <a:latin typeface="Aptos Display"/>
              </a:defRPr>
            </a:pPr>
            <a:r>
              <a:t>Extension path and architectural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A"/>
                </a:solidFill>
                <a:latin typeface="Aptos"/>
              </a:defRPr>
            </a:pPr>
            <a:r>
              <a:t>A new feature should flow through the same contracts—state, input, compute, projection, display, documentation.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96596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1. State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Add field &amp; canonical default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core/state.js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" cy="1874519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542032" y="2359152"/>
            <a:ext cx="246888" cy="0"/>
          </a:xfrm>
          <a:prstGeom prst="line">
            <a:avLst/>
          </a:prstGeom>
          <a:ln w="25400">
            <a:solidFill>
              <a:srgbClr val="266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62072" y="1417320"/>
            <a:ext cx="196596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2. Input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Add/edit control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js/input/</a:t>
            </a:r>
          </a:p>
        </p:txBody>
      </p:sp>
      <p:sp>
        <p:nvSpPr>
          <p:cNvPr id="8" name="Rectangle 7"/>
          <p:cNvSpPr/>
          <p:nvPr/>
        </p:nvSpPr>
        <p:spPr>
          <a:xfrm>
            <a:off x="2862072" y="1417320"/>
            <a:ext cx="82296" cy="1874519"/>
          </a:xfrm>
          <a:prstGeom prst="rect">
            <a:avLst/>
          </a:prstGeom>
          <a:solidFill>
            <a:srgbClr val="168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855464" y="2359152"/>
            <a:ext cx="246888" cy="0"/>
          </a:xfrm>
          <a:prstGeom prst="line">
            <a:avLst/>
          </a:prstGeom>
          <a:ln w="25400">
            <a:solidFill>
              <a:srgbClr val="168F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75503" y="1417320"/>
            <a:ext cx="196596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3. Compute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Use field in model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projection.js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75503" y="1417320"/>
            <a:ext cx="82296" cy="1874519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168896" y="2359152"/>
            <a:ext cx="246887" cy="0"/>
          </a:xfrm>
          <a:prstGeom prst="line">
            <a:avLst/>
          </a:prstGeom>
          <a:ln w="25400">
            <a:solidFill>
              <a:srgbClr val="429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88936" y="1417320"/>
            <a:ext cx="196596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4. Display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Expose projection result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js/display/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88936" y="1417320"/>
            <a:ext cx="82296" cy="1874519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482328" y="2359152"/>
            <a:ext cx="246888" cy="0"/>
          </a:xfrm>
          <a:prstGeom prst="line">
            <a:avLst/>
          </a:prstGeom>
          <a:ln w="25400">
            <a:solidFill>
              <a:srgbClr val="785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02367" y="1417320"/>
            <a:ext cx="196596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5. Document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Update contracts</a:t>
            </a:r>
          </a:p>
          <a:p>
            <a:pPr>
              <a:spcBef>
                <a:spcPts val="4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ARCHITECTURE.md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2367" y="1417320"/>
            <a:ext cx="82296" cy="1874519"/>
          </a:xfrm>
          <a:prstGeom prst="rect">
            <a:avLst/>
          </a:prstGeom>
          <a:solidFill>
            <a:srgbClr val="E5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77639"/>
            <a:ext cx="3401568" cy="1325880"/>
          </a:xfrm>
          <a:prstGeom prst="roundRect">
            <a:avLst/>
          </a:prstGeom>
          <a:solidFill>
            <a:srgbClr val="E9F4FF"/>
          </a:solidFill>
          <a:ln w="15240">
            <a:solidFill>
              <a:srgbClr val="266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Guardrail: single sources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state is the only input truth.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projection rows are the only derived-data truth.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77639"/>
            <a:ext cx="82296" cy="1325880"/>
          </a:xfrm>
          <a:prstGeom prst="rect">
            <a:avLst/>
          </a:prstGeom>
          <a:solidFill>
            <a:srgbClr val="266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3977639"/>
            <a:ext cx="3401568" cy="1325880"/>
          </a:xfrm>
          <a:prstGeom prst="roundRect">
            <a:avLst/>
          </a:prstGeom>
          <a:solidFill>
            <a:srgbClr val="EAF9F4"/>
          </a:solidFill>
          <a:ln w="15240">
            <a:solidFill>
              <a:srgbClr val="429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Guardrail: layer boundaries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Compute never touches the DOM.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Display never performs financial recomputation.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77639"/>
            <a:ext cx="82296" cy="1325880"/>
          </a:xfrm>
          <a:prstGeom prst="rect">
            <a:avLst/>
          </a:prstGeom>
          <a:solidFill>
            <a:srgbClr val="429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3977639"/>
            <a:ext cx="3401568" cy="1325880"/>
          </a:xfrm>
          <a:prstGeom prst="roundRect">
            <a:avLst/>
          </a:prstGeom>
          <a:solidFill>
            <a:srgbClr val="F7EFFF"/>
          </a:solidFill>
          <a:ln w="15240">
            <a:solidFill>
              <a:srgbClr val="78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118872" bIns="73152"/>
          <a:lstStyle/>
          <a:p>
            <a:pPr algn="ctr">
              <a:defRPr sz="1600" b="1">
                <a:solidFill>
                  <a:srgbClr val="232D37"/>
                </a:solidFill>
                <a:latin typeface="Aptos Display"/>
              </a:defRPr>
            </a:pPr>
            <a:r>
              <a:t>Guardrail: reuse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Use shared controls, age-range and change schemas.</a:t>
            </a:r>
          </a:p>
          <a:p>
            <a:pPr>
              <a:spcBef>
                <a:spcPts val="4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Use existing chart conventions and overlays.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977639"/>
            <a:ext cx="82296" cy="1325880"/>
          </a:xfrm>
          <a:prstGeom prst="rect">
            <a:avLst/>
          </a:prstGeom>
          <a:solidFill>
            <a:srgbClr val="78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88136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F2647"/>
                </a:solidFill>
                <a:latin typeface="Aptos"/>
              </a:defRPr>
            </a:pPr>
            <a:r>
              <a:t>Result: predictable changes, isolated responsibilities, and charts that remain consistent with the financial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D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D6C7A"/>
                </a:solidFill>
                <a:latin typeface="Aptos"/>
              </a:defRPr>
            </a:pPr>
            <a:r>
              <a:t>Retirement Income Planner • Architecture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